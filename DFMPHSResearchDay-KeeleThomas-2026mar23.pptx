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DEDF"/>
          </a:solidFill>
        </a:fill>
      </a:tcStyle>
    </a:wholeTbl>
    <a:band2H>
      <a:tcTxStyle b="def" i="def"/>
      <a:tcStyle>
        <a:tcBdr/>
        <a:fill>
          <a:solidFill>
            <a:srgbClr val="E9EF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CCDCE"/>
          </a:solidFill>
        </a:fill>
      </a:tcStyle>
    </a:wholeTbl>
    <a:band2H>
      <a:tcTxStyle b="def" i="def"/>
      <a:tcStyle>
        <a:tcBdr/>
        <a:fill>
          <a:solidFill>
            <a:srgbClr val="E7E8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4D1"/>
          </a:solidFill>
        </a:fill>
      </a:tcStyle>
    </a:wholeTbl>
    <a:band2H>
      <a:tcTxStyle b="def" i="def"/>
      <a:tcStyle>
        <a:tcBdr/>
        <a:fill>
          <a:solidFill>
            <a:srgbClr val="E7EB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1E9E3"/>
          </a:solidFill>
        </a:fill>
      </a:tcStyle>
    </a:wholeTbl>
    <a:band2H>
      <a:tcTxStyle b="def" i="def"/>
      <a:tcStyle>
        <a:tcBdr/>
        <a:fill>
          <a:solidFill>
            <a:srgbClr val="F1F4F2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
</file>

<file path=ppt/charts/_rels/chart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.xlsx"/>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title>
      <c:tx>
        <c:rich>
          <a:bodyPr rot="0"/>
          <a:lstStyle/>
          <a:p>
            <a:pPr>
              <a:defRPr b="0" i="0" strike="noStrike" sz="1800" u="none">
                <a:solidFill>
                  <a:srgbClr val="000000"/>
                </a:solidFill>
                <a:latin typeface="Aptos"/>
              </a:defRPr>
            </a:pPr>
            <a:r>
              <a:rPr b="0" i="0" strike="noStrike" sz="1800" u="none">
                <a:solidFill>
                  <a:srgbClr val="000000"/>
                </a:solidFill>
                <a:latin typeface="Aptos"/>
              </a:rPr>
              <a:t>Prevalence (%) of MDE and Drug Use in Analytic Sample</a:t>
            </a:r>
          </a:p>
        </c:rich>
      </c:tx>
      <c:layout>
        <c:manualLayout>
          <c:xMode val="edge"/>
          <c:yMode val="edge"/>
          <c:x val="0.112142"/>
          <c:y val="0"/>
          <c:w val="0.775716"/>
          <c:h val="0.117021"/>
        </c:manualLayout>
      </c:layout>
      <c:overlay val="1"/>
      <c:spPr>
        <a:noFill/>
        <a:effectLst/>
      </c:spPr>
    </c:title>
    <c:autoTitleDeleted val="1"/>
    <c:plotArea>
      <c:layout>
        <c:manualLayout>
          <c:layoutTarget val="inner"/>
          <c:xMode val="edge"/>
          <c:yMode val="edge"/>
          <c:x val="0.0602695"/>
          <c:y val="0.117021"/>
          <c:w val="0.934731"/>
          <c:h val="0.78537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/>
            </c:strRef>
          </c:tx>
          <c:spPr>
            <a:solidFill>
              <a:schemeClr val="accent5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FFFFFF"/>
                    </a:solidFill>
                    <a:latin typeface="Apto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errBars>
            <c:errBarType val="both"/>
            <c:errValType val="fixedVal"/>
            <c:noEndCap val="0"/>
            <c:val val="1.4"/>
            <c:spPr>
              <a:noFill/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c:spPr>
          </c:errBars>
          <c:cat>
            <c:strRef>
              <c:f>Sheet1!$B$1:$E$1</c:f>
              <c:strCache>
                <c:ptCount val="4"/>
                <c:pt idx="0">
                  <c:v>Lifetime MDE</c:v>
                </c:pt>
                <c:pt idx="1">
                  <c:v>Any Drug Use</c:v>
                </c:pt>
                <c:pt idx="2">
                  <c:v>"Soft" Drug Use</c:v>
                </c:pt>
                <c:pt idx="3">
                  <c:v>"Hard" Drug Use</c:v>
                </c:pt>
              </c:strCache>
            </c:strRef>
          </c:cat>
          <c:val>
            <c:numRef>
              <c:f>Sheet1!$B$2:$E$2</c:f>
              <c:numCache>
                <c:ptCount val="1"/>
                <c:pt idx="0">
                  <c:v>27.000000</c:v>
                </c:pt>
              </c:numCache>
            </c:numRef>
          </c:val>
        </c:ser>
        <c:ser>
          <c:idx val="1"/>
          <c:order val="1"/>
          <c:tx>
            <c:strRef>
              <c:f>Sheet1!$A$3</c:f>
              <c:strCache/>
            </c:strRef>
          </c:tx>
          <c:spPr>
            <a:solidFill>
              <a:srgbClr val="165B4B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FFFFFF"/>
                    </a:solidFill>
                    <a:latin typeface="Apto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errBars>
            <c:errBarType val="both"/>
            <c:errValType val="fixedVal"/>
            <c:noEndCap val="0"/>
            <c:val val="1.4"/>
            <c:spPr>
              <a:noFill/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c:spPr>
          </c:errBars>
          <c:cat>
            <c:strRef>
              <c:f>Sheet1!$B$1:$E$1</c:f>
              <c:strCache>
                <c:ptCount val="4"/>
                <c:pt idx="0">
                  <c:v>Lifetime MDE</c:v>
                </c:pt>
                <c:pt idx="1">
                  <c:v>Any Drug Use</c:v>
                </c:pt>
                <c:pt idx="2">
                  <c:v>"Soft" Drug Use</c:v>
                </c:pt>
                <c:pt idx="3">
                  <c:v>"Hard" Drug Use</c:v>
                </c:pt>
              </c:strCache>
            </c:strRef>
          </c:cat>
          <c:val>
            <c:numRef>
              <c:f>Sheet1!$B$3:$E$3</c:f>
              <c:numCache>
                <c:ptCount val="1"/>
                <c:pt idx="1">
                  <c:v>50.700000</c:v>
                </c:pt>
              </c:numCache>
            </c:numRef>
          </c:val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Untitled 1</c:v>
                </c:pt>
              </c:strCache>
            </c:strRef>
          </c:tx>
          <c:spPr>
            <a:solidFill>
              <a:schemeClr val="accent3">
                <a:satOff val="-33596"/>
                <a:lumOff val="18235"/>
              </a:schemeClr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FFFFFF"/>
                    </a:solidFill>
                    <a:latin typeface="Apto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errBars>
            <c:errBarType val="both"/>
            <c:errValType val="fixedVal"/>
            <c:noEndCap val="0"/>
            <c:val val="1.4"/>
            <c:spPr>
              <a:noFill/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c:spPr>
          </c:errBars>
          <c:cat>
            <c:strRef>
              <c:f>Sheet1!$B$1:$E$1</c:f>
              <c:strCache>
                <c:ptCount val="4"/>
                <c:pt idx="0">
                  <c:v>Lifetime MDE</c:v>
                </c:pt>
                <c:pt idx="1">
                  <c:v>Any Drug Use</c:v>
                </c:pt>
                <c:pt idx="2">
                  <c:v>"Soft" Drug Use</c:v>
                </c:pt>
                <c:pt idx="3">
                  <c:v>"Hard" Drug Use</c:v>
                </c:pt>
              </c:strCache>
            </c:strRef>
          </c:cat>
          <c:val>
            <c:numRef>
              <c:f>Sheet1!$B$4:$E$4</c:f>
              <c:numCache>
                <c:ptCount val="1"/>
                <c:pt idx="2">
                  <c:v>34.600000</c:v>
                </c:pt>
              </c:numCache>
            </c:numRef>
          </c:val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Untitled 2</c:v>
                </c:pt>
              </c:strCache>
            </c:strRef>
          </c:tx>
          <c:spPr>
            <a:solidFill>
              <a:schemeClr val="accent3">
                <a:satOff val="-38288"/>
                <a:lumOff val="36470"/>
              </a:schemeClr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FFFFFF"/>
                    </a:solidFill>
                    <a:latin typeface="Apto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errBars>
            <c:errBarType val="both"/>
            <c:errValType val="fixedVal"/>
            <c:noEndCap val="0"/>
            <c:val val="1.4"/>
            <c:spPr>
              <a:noFill/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c:spPr>
          </c:errBars>
          <c:cat>
            <c:strRef>
              <c:f>Sheet1!$B$1:$E$1</c:f>
              <c:strCache>
                <c:ptCount val="4"/>
                <c:pt idx="0">
                  <c:v>Lifetime MDE</c:v>
                </c:pt>
                <c:pt idx="1">
                  <c:v>Any Drug Use</c:v>
                </c:pt>
                <c:pt idx="2">
                  <c:v>"Soft" Drug Use</c:v>
                </c:pt>
                <c:pt idx="3">
                  <c:v>"Hard" Drug Use</c:v>
                </c:pt>
              </c:strCache>
            </c:strRef>
          </c:cat>
          <c:val>
            <c:numRef>
              <c:f>Sheet1!$B$5:$E$5</c:f>
              <c:numCache>
                <c:ptCount val="1"/>
                <c:pt idx="3">
                  <c:v>32.400000</c:v>
                </c:pt>
              </c:numCache>
            </c:numRef>
          </c:val>
        </c:ser>
        <c:gapWidth val="130"/>
        <c:overlap val="10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miter lim="800000"/>
          </a:ln>
        </c:spPr>
        <c:txPr>
          <a:bodyPr rot="0"/>
          <a:lstStyle/>
          <a:p>
            <a:pPr>
              <a:defRPr b="0" i="0" strike="noStrike" sz="1800" u="none">
                <a:solidFill>
                  <a:srgbClr val="000000"/>
                </a:solidFill>
                <a:latin typeface="Apto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miter lim="800000"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miter lim="800000"/>
          </a:ln>
        </c:spPr>
        <c:txPr>
          <a:bodyPr rot="0"/>
          <a:lstStyle/>
          <a:p>
            <a:pPr>
              <a:defRPr b="0" i="0" strike="noStrike" sz="1800" u="none">
                <a:solidFill>
                  <a:srgbClr val="000000"/>
                </a:solidFill>
                <a:latin typeface="Aptos"/>
              </a:defRPr>
            </a:pPr>
          </a:p>
        </c:txPr>
        <c:crossAx val="2094734552"/>
        <c:crosses val="autoZero"/>
        <c:crossBetween val="between"/>
        <c:majorUnit val="15"/>
        <c:minorUnit val="7.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3" name="Shape 9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ptos"/>
      </a:defRPr>
    </a:lvl1pPr>
    <a:lvl2pPr indent="228600" latinLnBrk="0">
      <a:defRPr sz="1200">
        <a:latin typeface="+mn-lt"/>
        <a:ea typeface="+mn-ea"/>
        <a:cs typeface="+mn-cs"/>
        <a:sym typeface="Aptos"/>
      </a:defRPr>
    </a:lvl2pPr>
    <a:lvl3pPr indent="457200" latinLnBrk="0">
      <a:defRPr sz="1200">
        <a:latin typeface="+mn-lt"/>
        <a:ea typeface="+mn-ea"/>
        <a:cs typeface="+mn-cs"/>
        <a:sym typeface="Aptos"/>
      </a:defRPr>
    </a:lvl3pPr>
    <a:lvl4pPr indent="685800" latinLnBrk="0">
      <a:defRPr sz="1200">
        <a:latin typeface="+mn-lt"/>
        <a:ea typeface="+mn-ea"/>
        <a:cs typeface="+mn-cs"/>
        <a:sym typeface="Aptos"/>
      </a:defRPr>
    </a:lvl4pPr>
    <a:lvl5pPr indent="914400" latinLnBrk="0">
      <a:defRPr sz="1200">
        <a:latin typeface="+mn-lt"/>
        <a:ea typeface="+mn-ea"/>
        <a:cs typeface="+mn-cs"/>
        <a:sym typeface="Aptos"/>
      </a:defRPr>
    </a:lvl5pPr>
    <a:lvl6pPr indent="1143000" latinLnBrk="0">
      <a:defRPr sz="1200">
        <a:latin typeface="+mn-lt"/>
        <a:ea typeface="+mn-ea"/>
        <a:cs typeface="+mn-cs"/>
        <a:sym typeface="Aptos"/>
      </a:defRPr>
    </a:lvl6pPr>
    <a:lvl7pPr indent="1371600" latinLnBrk="0">
      <a:defRPr sz="1200">
        <a:latin typeface="+mn-lt"/>
        <a:ea typeface="+mn-ea"/>
        <a:cs typeface="+mn-cs"/>
        <a:sym typeface="Aptos"/>
      </a:defRPr>
    </a:lvl7pPr>
    <a:lvl8pPr indent="1600200" latinLnBrk="0">
      <a:defRPr sz="1200">
        <a:latin typeface="+mn-lt"/>
        <a:ea typeface="+mn-ea"/>
        <a:cs typeface="+mn-cs"/>
        <a:sym typeface="Aptos"/>
      </a:defRPr>
    </a:lvl8pPr>
    <a:lvl9pPr indent="1828800" latinLnBrk="0">
      <a:defRPr sz="1200">
        <a:latin typeface="+mn-lt"/>
        <a:ea typeface="+mn-ea"/>
        <a:cs typeface="+mn-cs"/>
        <a:sym typeface="Aptos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3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1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757575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757575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757575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757575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Text Placeholder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4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5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/>
          <p:nvPr/>
        </p:nvSpPr>
        <p:spPr>
          <a:xfrm>
            <a:off x="0" y="0"/>
            <a:ext cx="12192000" cy="365125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75757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400" u="none">
          <a:solidFill>
            <a:srgbClr val="000000"/>
          </a:solidFill>
          <a:uFillTx/>
          <a:latin typeface="Lato"/>
          <a:ea typeface="Lato"/>
          <a:cs typeface="Lato"/>
          <a:sym typeface="Lato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400" u="none">
          <a:solidFill>
            <a:srgbClr val="000000"/>
          </a:solidFill>
          <a:uFillTx/>
          <a:latin typeface="Lato"/>
          <a:ea typeface="Lato"/>
          <a:cs typeface="Lato"/>
          <a:sym typeface="Lato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400" u="none">
          <a:solidFill>
            <a:srgbClr val="000000"/>
          </a:solidFill>
          <a:uFillTx/>
          <a:latin typeface="Lato"/>
          <a:ea typeface="Lato"/>
          <a:cs typeface="Lato"/>
          <a:sym typeface="Lato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400" u="none">
          <a:solidFill>
            <a:srgbClr val="000000"/>
          </a:solidFill>
          <a:uFillTx/>
          <a:latin typeface="Lato"/>
          <a:ea typeface="Lato"/>
          <a:cs typeface="Lato"/>
          <a:sym typeface="Lato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400" u="none">
          <a:solidFill>
            <a:srgbClr val="000000"/>
          </a:solidFill>
          <a:uFillTx/>
          <a:latin typeface="Lato"/>
          <a:ea typeface="Lato"/>
          <a:cs typeface="Lato"/>
          <a:sym typeface="Lato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400" u="none">
          <a:solidFill>
            <a:srgbClr val="000000"/>
          </a:solidFill>
          <a:uFillTx/>
          <a:latin typeface="Lato"/>
          <a:ea typeface="Lato"/>
          <a:cs typeface="Lato"/>
          <a:sym typeface="Lato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400" u="none">
          <a:solidFill>
            <a:srgbClr val="000000"/>
          </a:solidFill>
          <a:uFillTx/>
          <a:latin typeface="Lato"/>
          <a:ea typeface="Lato"/>
          <a:cs typeface="Lato"/>
          <a:sym typeface="Lato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400" u="none">
          <a:solidFill>
            <a:srgbClr val="000000"/>
          </a:solidFill>
          <a:uFillTx/>
          <a:latin typeface="Lato"/>
          <a:ea typeface="Lato"/>
          <a:cs typeface="Lato"/>
          <a:sym typeface="Lato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400" u="none">
          <a:solidFill>
            <a:srgbClr val="000000"/>
          </a:solidFill>
          <a:uFillTx/>
          <a:latin typeface="Lato"/>
          <a:ea typeface="Lato"/>
          <a:cs typeface="Lato"/>
          <a:sym typeface="Lato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Courier New"/>
        <a:buChar char="o"/>
        <a:tabLst/>
        <a:defRPr b="0" baseline="0" cap="none" i="0" spc="0" strike="noStrike" sz="2800" u="none">
          <a:solidFill>
            <a:srgbClr val="000000"/>
          </a:solidFill>
          <a:uFillTx/>
          <a:latin typeface="Lato"/>
          <a:ea typeface="Lato"/>
          <a:cs typeface="Lato"/>
          <a:sym typeface="Lato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Courier New"/>
        <a:buChar char="o"/>
        <a:tabLst/>
        <a:defRPr b="0" baseline="0" cap="none" i="0" spc="0" strike="noStrike" sz="2800" u="none">
          <a:solidFill>
            <a:srgbClr val="000000"/>
          </a:solidFill>
          <a:uFillTx/>
          <a:latin typeface="Lato"/>
          <a:ea typeface="Lato"/>
          <a:cs typeface="Lato"/>
          <a:sym typeface="Lato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Courier New"/>
        <a:buChar char="o"/>
        <a:tabLst/>
        <a:defRPr b="0" baseline="0" cap="none" i="0" spc="0" strike="noStrike" sz="2800" u="none">
          <a:solidFill>
            <a:srgbClr val="000000"/>
          </a:solidFill>
          <a:uFillTx/>
          <a:latin typeface="Lato"/>
          <a:ea typeface="Lato"/>
          <a:cs typeface="Lato"/>
          <a:sym typeface="Lato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Courier New"/>
        <a:buChar char="o"/>
        <a:tabLst/>
        <a:defRPr b="0" baseline="0" cap="none" i="0" spc="0" strike="noStrike" sz="2800" u="none">
          <a:solidFill>
            <a:srgbClr val="000000"/>
          </a:solidFill>
          <a:uFillTx/>
          <a:latin typeface="Lato"/>
          <a:ea typeface="Lato"/>
          <a:cs typeface="Lato"/>
          <a:sym typeface="Lato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Courier New"/>
        <a:buChar char="o"/>
        <a:tabLst/>
        <a:defRPr b="0" baseline="0" cap="none" i="0" spc="0" strike="noStrike" sz="2800" u="none">
          <a:solidFill>
            <a:srgbClr val="000000"/>
          </a:solidFill>
          <a:uFillTx/>
          <a:latin typeface="Lato"/>
          <a:ea typeface="Lato"/>
          <a:cs typeface="Lato"/>
          <a:sym typeface="Lato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Courier New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Lato"/>
          <a:ea typeface="Lato"/>
          <a:cs typeface="Lato"/>
          <a:sym typeface="Lato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Courier New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Lato"/>
          <a:ea typeface="Lato"/>
          <a:cs typeface="Lato"/>
          <a:sym typeface="Lato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Courier New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Lato"/>
          <a:ea typeface="Lato"/>
          <a:cs typeface="Lato"/>
          <a:sym typeface="Lato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Courier New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Lato"/>
          <a:ea typeface="Lato"/>
          <a:cs typeface="Lato"/>
          <a:sym typeface="Lato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Lato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Lato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Lato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Lato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Lato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Lato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Lato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Lato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Lato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chart" Target="../charts/char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pmc.ncbi.nlm.nih.gov/articles/PMC11003516/#R6" TargetMode="External"/><Relationship Id="rId3" Type="http://schemas.openxmlformats.org/officeDocument/2006/relationships/hyperlink" Target="https://drugfree.org/reports/adolescent-substance-use-americas-1-public-health-problem" TargetMode="External"/><Relationship Id="rId4" Type="http://schemas.openxmlformats.org/officeDocument/2006/relationships/hyperlink" Target="https://www.samhsa.gov/data/sites/default/files/reports/rpt47095/National%20Report/National%20Report/2023-nsduh-annual-national.pdf" TargetMode="External"/><Relationship Id="rId5" Type="http://schemas.openxmlformats.org/officeDocument/2006/relationships/hyperlink" Target="https://www.samhsa.gov/data/sites/default/files/NSDUH%202023%20Annual%20Release/2023-nsduh-main-highlights.pdf" TargetMode="Externa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1"/>
          <p:cNvSpPr txBox="1"/>
          <p:nvPr>
            <p:ph type="ctrTitle"/>
          </p:nvPr>
        </p:nvSpPr>
        <p:spPr>
          <a:xfrm>
            <a:off x="500417" y="1204250"/>
            <a:ext cx="6951262" cy="2387601"/>
          </a:xfrm>
          <a:prstGeom prst="rect">
            <a:avLst/>
          </a:prstGeom>
        </p:spPr>
        <p:txBody>
          <a:bodyPr/>
          <a:lstStyle>
            <a:lvl1pPr algn="l" defTabSz="850391">
              <a:defRPr sz="4092"/>
            </a:lvl1pPr>
          </a:lstStyle>
          <a:p>
            <a:pPr/>
            <a:r>
              <a:t>Estimating the relationship between drug use and major depressive disorder among youth</a:t>
            </a:r>
          </a:p>
        </p:txBody>
      </p:sp>
      <p:sp>
        <p:nvSpPr>
          <p:cNvPr id="96" name="Subtitle 2"/>
          <p:cNvSpPr txBox="1"/>
          <p:nvPr>
            <p:ph type="subTitle" sz="quarter" idx="1"/>
          </p:nvPr>
        </p:nvSpPr>
        <p:spPr>
          <a:xfrm>
            <a:off x="500417" y="3683925"/>
            <a:ext cx="6951262" cy="1995874"/>
          </a:xfrm>
          <a:prstGeom prst="rect">
            <a:avLst/>
          </a:prstGeom>
        </p:spPr>
        <p:txBody>
          <a:bodyPr/>
          <a:lstStyle/>
          <a:p>
            <a:pPr algn="l"/>
            <a:r>
              <a:t>Keele J. Thomas, BS &amp; Samantha J. Bauer, PhD</a:t>
            </a:r>
          </a:p>
          <a:p>
            <a:pPr algn="l">
              <a:defRPr sz="700"/>
            </a:pPr>
          </a:p>
          <a:p>
            <a:pPr algn="l">
              <a:defRPr sz="2000"/>
            </a:pPr>
            <a:r>
              <a:t>Department of Family Medicine &amp; Public Health Sciences Research Day</a:t>
            </a:r>
          </a:p>
          <a:p>
            <a:pPr algn="l">
              <a:defRPr sz="2000"/>
            </a:pPr>
            <a:r>
              <a:t>April 16, 2026</a:t>
            </a:r>
          </a:p>
        </p:txBody>
      </p:sp>
      <p:pic>
        <p:nvPicPr>
          <p:cNvPr id="9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451677" y="1727659"/>
            <a:ext cx="4418215" cy="37283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Rectangle 3"/>
          <p:cNvGrpSpPr/>
          <p:nvPr/>
        </p:nvGrpSpPr>
        <p:grpSpPr>
          <a:xfrm>
            <a:off x="818866" y="657904"/>
            <a:ext cx="4721180" cy="5939259"/>
            <a:chOff x="0" y="0"/>
            <a:chExt cx="4721178" cy="5939257"/>
          </a:xfrm>
        </p:grpSpPr>
        <p:sp>
          <p:nvSpPr>
            <p:cNvPr id="99" name="Rectangle"/>
            <p:cNvSpPr/>
            <p:nvPr/>
          </p:nvSpPr>
          <p:spPr>
            <a:xfrm>
              <a:off x="-1" y="-1"/>
              <a:ext cx="4721180" cy="5939259"/>
            </a:xfrm>
            <a:prstGeom prst="rect">
              <a:avLst/>
            </a:prstGeom>
            <a:solidFill>
              <a:srgbClr val="FFFFFF"/>
            </a:solidFill>
            <a:ln w="19050" cap="flat">
              <a:solidFill>
                <a:schemeClr val="accent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200">
                  <a:latin typeface="Lato"/>
                  <a:ea typeface="Lato"/>
                  <a:cs typeface="Lato"/>
                  <a:sym typeface="Lato"/>
                </a:defRPr>
              </a:pPr>
            </a:p>
          </p:txBody>
        </p:sp>
        <p:sp>
          <p:nvSpPr>
            <p:cNvPr id="100" name="Agenda…"/>
            <p:cNvSpPr txBox="1"/>
            <p:nvPr/>
          </p:nvSpPr>
          <p:spPr>
            <a:xfrm>
              <a:off x="55244" y="9524"/>
              <a:ext cx="4610689" cy="5552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b="1" sz="5400">
                  <a:latin typeface="Lato"/>
                  <a:ea typeface="Lato"/>
                  <a:cs typeface="Lato"/>
                  <a:sym typeface="Lato"/>
                </a:defRPr>
              </a:pPr>
              <a:r>
                <a:t>Agenda</a:t>
              </a:r>
              <a:endParaRPr sz="4400"/>
            </a:p>
            <a:p>
              <a:pPr>
                <a:defRPr sz="2400">
                  <a:latin typeface="Lato"/>
                  <a:ea typeface="Lato"/>
                  <a:cs typeface="Lato"/>
                  <a:sym typeface="Lato"/>
                </a:defRPr>
              </a:pPr>
            </a:p>
            <a:p>
              <a:pPr marL="285750" indent="-285750">
                <a:buSzPct val="100000"/>
                <a:buFont typeface="Arial"/>
                <a:buChar char="•"/>
                <a:defRPr sz="4000">
                  <a:latin typeface="Lato"/>
                  <a:ea typeface="Lato"/>
                  <a:cs typeface="Lato"/>
                  <a:sym typeface="Lato"/>
                </a:defRPr>
              </a:pPr>
              <a:r>
                <a:t>Background &amp; specific aims</a:t>
              </a:r>
            </a:p>
            <a:p>
              <a:pPr marL="285750" indent="-285750">
                <a:buSzPct val="100000"/>
                <a:buFont typeface="Arial"/>
                <a:buChar char="•"/>
                <a:defRPr sz="4000">
                  <a:latin typeface="Lato"/>
                  <a:ea typeface="Lato"/>
                  <a:cs typeface="Lato"/>
                  <a:sym typeface="Lato"/>
                </a:defRPr>
              </a:pPr>
              <a:r>
                <a:t>Methods</a:t>
              </a:r>
            </a:p>
            <a:p>
              <a:pPr marL="285750" indent="-285750">
                <a:buSzPct val="100000"/>
                <a:buFont typeface="Arial"/>
                <a:buChar char="•"/>
                <a:defRPr sz="4000">
                  <a:latin typeface="Lato"/>
                  <a:ea typeface="Lato"/>
                  <a:cs typeface="Lato"/>
                  <a:sym typeface="Lato"/>
                </a:defRPr>
              </a:pPr>
              <a:r>
                <a:t>Results</a:t>
              </a:r>
            </a:p>
            <a:p>
              <a:pPr marL="285750" indent="-285750">
                <a:buSzPct val="100000"/>
                <a:buFont typeface="Arial"/>
                <a:buChar char="•"/>
                <a:defRPr sz="4000">
                  <a:latin typeface="Lato"/>
                  <a:ea typeface="Lato"/>
                  <a:cs typeface="Lato"/>
                  <a:sym typeface="Lato"/>
                </a:defRPr>
              </a:pPr>
              <a:r>
                <a:t>Discussion</a:t>
              </a:r>
            </a:p>
            <a:p>
              <a:pPr marL="285750" indent="-285750">
                <a:buSzPct val="100000"/>
                <a:buFont typeface="Arial"/>
                <a:buChar char="•"/>
                <a:defRPr sz="4000">
                  <a:latin typeface="Lato"/>
                  <a:ea typeface="Lato"/>
                  <a:cs typeface="Lato"/>
                  <a:sym typeface="Lato"/>
                </a:defRPr>
              </a:pPr>
              <a:r>
                <a:t>Conclusions</a:t>
              </a:r>
            </a:p>
            <a:p>
              <a:pPr marL="285750" indent="-285750">
                <a:buSzPct val="100000"/>
                <a:buFont typeface="Arial"/>
                <a:buChar char="•"/>
                <a:defRPr sz="4000">
                  <a:latin typeface="Lato"/>
                  <a:ea typeface="Lato"/>
                  <a:cs typeface="Lato"/>
                  <a:sym typeface="Lato"/>
                </a:defRPr>
              </a:pPr>
              <a:r>
                <a:t>Questions</a:t>
              </a:r>
            </a:p>
          </p:txBody>
        </p:sp>
      </p:grpSp>
      <p:grpSp>
        <p:nvGrpSpPr>
          <p:cNvPr id="104" name="Rectangle 4"/>
          <p:cNvGrpSpPr/>
          <p:nvPr/>
        </p:nvGrpSpPr>
        <p:grpSpPr>
          <a:xfrm>
            <a:off x="5719340" y="657904"/>
            <a:ext cx="5646234" cy="3352167"/>
            <a:chOff x="0" y="0"/>
            <a:chExt cx="5646233" cy="3352165"/>
          </a:xfrm>
        </p:grpSpPr>
        <p:sp>
          <p:nvSpPr>
            <p:cNvPr id="102" name="Rectangle"/>
            <p:cNvSpPr/>
            <p:nvPr/>
          </p:nvSpPr>
          <p:spPr>
            <a:xfrm>
              <a:off x="0" y="0"/>
              <a:ext cx="5646234" cy="2927350"/>
            </a:xfrm>
            <a:prstGeom prst="rect">
              <a:avLst/>
            </a:prstGeom>
            <a:solidFill>
              <a:srgbClr val="FFFFFF"/>
            </a:solidFill>
            <a:ln w="19050" cap="flat">
              <a:solidFill>
                <a:schemeClr val="accent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3" name="Acknowledgements…"/>
            <p:cNvSpPr txBox="1"/>
            <p:nvPr/>
          </p:nvSpPr>
          <p:spPr>
            <a:xfrm>
              <a:off x="55244" y="9525"/>
              <a:ext cx="5535745" cy="33426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b="1" sz="2800">
                  <a:latin typeface="Lato"/>
                  <a:ea typeface="Lato"/>
                  <a:cs typeface="Lato"/>
                  <a:sym typeface="Lato"/>
                </a:defRPr>
              </a:pPr>
              <a:r>
                <a:t>Acknowledgements</a:t>
              </a:r>
            </a:p>
            <a:p>
              <a:pPr>
                <a:defRPr b="1" sz="1200">
                  <a:latin typeface="Lato"/>
                  <a:ea typeface="Lato"/>
                  <a:cs typeface="Lato"/>
                  <a:sym typeface="Lato"/>
                </a:defRPr>
              </a:pPr>
            </a:p>
            <a:p>
              <a:pPr marL="342900" indent="-342900">
                <a:buSzPct val="100000"/>
                <a:buFont typeface="Arial"/>
                <a:buChar char="•"/>
                <a:defRPr sz="2200">
                  <a:latin typeface="Lato"/>
                  <a:ea typeface="Lato"/>
                  <a:cs typeface="Lato"/>
                  <a:sym typeface="Lato"/>
                </a:defRPr>
              </a:pPr>
              <a:r>
                <a:t>DFMPHS Research Day Committee</a:t>
              </a:r>
            </a:p>
            <a:p>
              <a:pPr marL="342900" indent="-342900">
                <a:buSzPct val="100000"/>
                <a:buFont typeface="Arial"/>
                <a:buChar char="•"/>
                <a:defRPr sz="2200">
                  <a:latin typeface="Lato"/>
                  <a:ea typeface="Lato"/>
                  <a:cs typeface="Lato"/>
                  <a:sym typeface="Lato"/>
                </a:defRPr>
              </a:pPr>
              <a:r>
                <a:t>Masters of Public Health program</a:t>
              </a:r>
            </a:p>
            <a:p>
              <a:pPr marL="342900" indent="-342900">
                <a:buSzPct val="100000"/>
                <a:buFont typeface="Arial"/>
                <a:buChar char="•"/>
                <a:defRPr sz="2200">
                  <a:latin typeface="Lato"/>
                  <a:ea typeface="Lato"/>
                  <a:cs typeface="Lato"/>
                  <a:sym typeface="Lato"/>
                </a:defRPr>
              </a:pPr>
              <a:r>
                <a:t>Applied Practice Experience Fall 2025, Michael McLeod &amp; SD</a:t>
              </a:r>
            </a:p>
            <a:p>
              <a:pPr marL="342900" indent="-342900">
                <a:buSzPct val="100000"/>
                <a:buFont typeface="Arial"/>
                <a:buChar char="•"/>
                <a:defRPr sz="2200">
                  <a:latin typeface="Lato"/>
                  <a:ea typeface="Lato"/>
                  <a:cs typeface="Lato"/>
                  <a:sym typeface="Lato"/>
                </a:defRPr>
              </a:pPr>
              <a:r>
                <a:t>Department of Family Medicine and Public Health Sciences faculty &amp; staff</a:t>
              </a:r>
            </a:p>
            <a:p>
              <a:pPr>
                <a:defRPr sz="2200">
                  <a:latin typeface="Lato"/>
                  <a:ea typeface="Lato"/>
                  <a:cs typeface="Lato"/>
                  <a:sym typeface="Lato"/>
                </a:defRPr>
              </a:pPr>
            </a:p>
          </p:txBody>
        </p:sp>
      </p:grpSp>
      <p:sp>
        <p:nvSpPr>
          <p:cNvPr id="105" name="Slide Number Placeholder 6"/>
          <p:cNvSpPr txBox="1"/>
          <p:nvPr>
            <p:ph type="sldNum" sz="quarter" idx="2"/>
          </p:nvPr>
        </p:nvSpPr>
        <p:spPr>
          <a:xfrm>
            <a:off x="11506097" y="6462541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108" name="Rectangle 7"/>
          <p:cNvGrpSpPr/>
          <p:nvPr/>
        </p:nvGrpSpPr>
        <p:grpSpPr>
          <a:xfrm>
            <a:off x="5719340" y="3669810"/>
            <a:ext cx="5646235" cy="3517266"/>
            <a:chOff x="0" y="0"/>
            <a:chExt cx="5646233" cy="3517265"/>
          </a:xfrm>
        </p:grpSpPr>
        <p:sp>
          <p:nvSpPr>
            <p:cNvPr id="106" name="Rectangle"/>
            <p:cNvSpPr/>
            <p:nvPr/>
          </p:nvSpPr>
          <p:spPr>
            <a:xfrm>
              <a:off x="0" y="0"/>
              <a:ext cx="5646234" cy="2927351"/>
            </a:xfrm>
            <a:prstGeom prst="rect">
              <a:avLst/>
            </a:prstGeom>
            <a:solidFill>
              <a:srgbClr val="FFFFFF"/>
            </a:solidFill>
            <a:ln w="19050" cap="flat">
              <a:solidFill>
                <a:schemeClr val="accent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7" name="About Me…"/>
            <p:cNvSpPr txBox="1"/>
            <p:nvPr/>
          </p:nvSpPr>
          <p:spPr>
            <a:xfrm>
              <a:off x="55244" y="9525"/>
              <a:ext cx="5535745" cy="3507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b="1" sz="2800">
                  <a:latin typeface="Lato"/>
                  <a:ea typeface="Lato"/>
                  <a:cs typeface="Lato"/>
                  <a:sym typeface="Lato"/>
                </a:defRPr>
              </a:pPr>
              <a:r>
                <a:t>About Me</a:t>
              </a:r>
            </a:p>
            <a:p>
              <a:pPr>
                <a:defRPr b="1" sz="1100">
                  <a:latin typeface="Lato"/>
                  <a:ea typeface="Lato"/>
                  <a:cs typeface="Lato"/>
                  <a:sym typeface="Lato"/>
                </a:defRPr>
              </a:pPr>
            </a:p>
            <a:p>
              <a:pPr>
                <a:defRPr sz="2400">
                  <a:latin typeface="Lato"/>
                  <a:ea typeface="Lato"/>
                  <a:cs typeface="Lato"/>
                  <a:sym typeface="Lato"/>
                </a:defRPr>
              </a:pPr>
              <a:r>
                <a:t>Keele J. Thomas, BS</a:t>
              </a:r>
            </a:p>
            <a:p>
              <a:pPr>
                <a:defRPr b="1" sz="2400">
                  <a:latin typeface="Lato"/>
                  <a:ea typeface="Lato"/>
                  <a:cs typeface="Lato"/>
                  <a:sym typeface="Lato"/>
                </a:defRPr>
              </a:pPr>
              <a:r>
                <a:t>MPH Public Health Practice Student</a:t>
              </a:r>
            </a:p>
            <a:p>
              <a:pPr marL="342900" indent="-342900">
                <a:buSzPct val="100000"/>
                <a:buFont typeface="Arial"/>
                <a:buChar char="•"/>
                <a:defRPr sz="2400">
                  <a:latin typeface="Lato"/>
                  <a:ea typeface="Lato"/>
                  <a:cs typeface="Lato"/>
                  <a:sym typeface="Lato"/>
                </a:defRPr>
              </a:pPr>
              <a:r>
                <a:t>Bachelor of Science in Biology, Gonzaga University</a:t>
              </a:r>
            </a:p>
            <a:p>
              <a:pPr marL="342900" indent="-342900">
                <a:buSzPct val="100000"/>
                <a:buFont typeface="Arial"/>
                <a:buChar char="•"/>
                <a:defRPr sz="2400">
                  <a:latin typeface="Lato"/>
                  <a:ea typeface="Lato"/>
                  <a:cs typeface="Lato"/>
                  <a:sym typeface="Lato"/>
                </a:defRPr>
              </a:pPr>
              <a:r>
                <a:t>Environmental Health Sanitarian, Washtenaw County Health Dept.</a:t>
              </a:r>
            </a:p>
            <a:p>
              <a:pPr>
                <a:defRPr sz="2200">
                  <a:latin typeface="Lato"/>
                  <a:ea typeface="Lato"/>
                  <a:cs typeface="Lato"/>
                  <a:sym typeface="Lato"/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3"/>
          <p:cNvSpPr txBox="1"/>
          <p:nvPr>
            <p:ph type="title"/>
          </p:nvPr>
        </p:nvSpPr>
        <p:spPr>
          <a:xfrm>
            <a:off x="831850" y="1709738"/>
            <a:ext cx="10515600" cy="2852738"/>
          </a:xfrm>
          <a:prstGeom prst="rect">
            <a:avLst/>
          </a:prstGeom>
        </p:spPr>
        <p:txBody>
          <a:bodyPr/>
          <a:lstStyle/>
          <a:p>
            <a:pPr/>
            <a:r>
              <a:t>Background &amp; Specific Aims</a:t>
            </a:r>
          </a:p>
        </p:txBody>
      </p:sp>
      <p:sp>
        <p:nvSpPr>
          <p:cNvPr id="111" name="Slide Number Placeholder 5"/>
          <p:cNvSpPr txBox="1"/>
          <p:nvPr>
            <p:ph type="sldNum" sz="quarter" idx="2"/>
          </p:nvPr>
        </p:nvSpPr>
        <p:spPr>
          <a:xfrm>
            <a:off x="11164902" y="6404292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itle 3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/>
            <a:r>
              <a:t>Background</a:t>
            </a:r>
          </a:p>
        </p:txBody>
      </p:sp>
      <p:sp>
        <p:nvSpPr>
          <p:cNvPr id="114" name="Content Placeholder 4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71450" indent="-171450" defTabSz="685800">
              <a:spcBef>
                <a:spcPts val="700"/>
              </a:spcBef>
              <a:defRPr sz="2100"/>
            </a:pPr>
            <a:r>
              <a:t>Substance use is a risk factor for depression and associated with the leading causes of death in adolescents.</a:t>
            </a:r>
            <a:r>
              <a:rPr baseline="31999" sz="2250"/>
              <a:t>1</a:t>
            </a:r>
            <a:endParaRPr baseline="31999" sz="2250"/>
          </a:p>
          <a:p>
            <a:pPr marL="171450" indent="-171450" defTabSz="685800">
              <a:spcBef>
                <a:spcPts val="700"/>
              </a:spcBef>
              <a:defRPr sz="2100"/>
            </a:pPr>
          </a:p>
          <a:p>
            <a:pPr marL="171450" indent="-171450" defTabSz="685800">
              <a:spcBef>
                <a:spcPts val="700"/>
              </a:spcBef>
              <a:defRPr sz="2100"/>
            </a:pPr>
            <a:r>
              <a:t>90% of Americans with clinical addiction started using before the age of 18.</a:t>
            </a:r>
            <a:r>
              <a:rPr baseline="31999" sz="2250"/>
              <a:t>2 </a:t>
            </a:r>
            <a:endParaRPr baseline="31999" sz="2250"/>
          </a:p>
          <a:p>
            <a:pPr marL="171450" indent="-171450" defTabSz="685800">
              <a:spcBef>
                <a:spcPts val="700"/>
              </a:spcBef>
              <a:defRPr sz="2100"/>
            </a:pPr>
            <a:endParaRPr baseline="31999" sz="2250"/>
          </a:p>
          <a:p>
            <a:pPr marL="171450" indent="-171450" defTabSz="685800">
              <a:spcBef>
                <a:spcPts val="700"/>
              </a:spcBef>
              <a:defRPr sz="2100"/>
            </a:pPr>
            <a:r>
              <a:t>In 2023: </a:t>
            </a:r>
          </a:p>
          <a:p>
            <a:pPr lvl="1" marL="514350" indent="-171450" defTabSz="685800">
              <a:spcBef>
                <a:spcPts val="700"/>
              </a:spcBef>
              <a:defRPr sz="2100"/>
            </a:pPr>
            <a:r>
              <a:t>4.5 million (18.1%) of adolescents aged 12-17 reported having a Major Depressive Episode (MDE).</a:t>
            </a:r>
            <a:r>
              <a:rPr baseline="31999" sz="2250"/>
              <a:t>3</a:t>
            </a:r>
          </a:p>
          <a:p>
            <a:pPr lvl="1" marL="514350" indent="-171450" defTabSz="685800">
              <a:spcBef>
                <a:spcPts val="700"/>
              </a:spcBef>
              <a:defRPr sz="2100"/>
            </a:pPr>
            <a:r>
              <a:t>70.5 million people 12-20 years old reported having used illicit drugs in the past month.</a:t>
            </a:r>
            <a:r>
              <a:rPr baseline="31999" sz="2250"/>
              <a:t>3</a:t>
            </a:r>
          </a:p>
          <a:p>
            <a:pPr lvl="1" marL="514350" indent="-171450" defTabSz="685800">
              <a:spcBef>
                <a:spcPts val="700"/>
              </a:spcBef>
              <a:defRPr sz="2100"/>
            </a:pPr>
            <a:r>
              <a:t>Adolescents with a past year MDE more likely to have used illicit drugs in the past year than those without (28.4% vs. 11.6%).</a:t>
            </a:r>
            <a:r>
              <a:rPr baseline="31999" sz="2250"/>
              <a:t>4</a:t>
            </a:r>
          </a:p>
        </p:txBody>
      </p:sp>
      <p:sp>
        <p:nvSpPr>
          <p:cNvPr id="115" name="Slide Number Placeholder 5"/>
          <p:cNvSpPr txBox="1"/>
          <p:nvPr>
            <p:ph type="sldNum" sz="quarter" idx="2"/>
          </p:nvPr>
        </p:nvSpPr>
        <p:spPr>
          <a:xfrm>
            <a:off x="11164902" y="6404292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1"/>
          <p:cNvSpPr txBox="1"/>
          <p:nvPr>
            <p:ph type="title"/>
          </p:nvPr>
        </p:nvSpPr>
        <p:spPr>
          <a:xfrm>
            <a:off x="219635" y="496513"/>
            <a:ext cx="10515601" cy="750982"/>
          </a:xfrm>
          <a:prstGeom prst="rect">
            <a:avLst/>
          </a:prstGeom>
        </p:spPr>
        <p:txBody>
          <a:bodyPr/>
          <a:lstStyle>
            <a:lvl1pPr defTabSz="896111">
              <a:defRPr sz="4312"/>
            </a:lvl1pPr>
          </a:lstStyle>
          <a:p>
            <a:pPr/>
            <a:r>
              <a:t>Specific Aims</a:t>
            </a:r>
          </a:p>
        </p:txBody>
      </p:sp>
      <p:sp>
        <p:nvSpPr>
          <p:cNvPr id="118" name="Content Placeholder 2"/>
          <p:cNvSpPr txBox="1"/>
          <p:nvPr>
            <p:ph type="body" sz="half" idx="1"/>
          </p:nvPr>
        </p:nvSpPr>
        <p:spPr>
          <a:xfrm>
            <a:off x="219635" y="1438834"/>
            <a:ext cx="5988425" cy="5188511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99000"/>
              </a:lnSpc>
              <a:buSzTx/>
              <a:buNone/>
            </a:pPr>
            <a:r>
              <a:t>1. To estimate the association between incident drug use and lifetime major depressive episode among youth ages 12-17 years old.</a:t>
            </a:r>
          </a:p>
          <a:p>
            <a:pPr marL="0" indent="0">
              <a:lnSpc>
                <a:spcPct val="99000"/>
              </a:lnSpc>
              <a:buSzTx/>
              <a:buNone/>
            </a:pPr>
            <a:r>
              <a:t> </a:t>
            </a:r>
          </a:p>
          <a:p>
            <a:pPr marL="0" indent="0">
              <a:lnSpc>
                <a:spcPct val="99000"/>
              </a:lnSpc>
              <a:buSzTx/>
              <a:buNone/>
            </a:pPr>
            <a:r>
              <a:t>2. To evaluate whether the hypothesized association between incident drug use and lifetime major depressive episode varies by drug type (i.e., “hard” vs. “soft” drugs) among youth ages 12-17 years old. </a:t>
            </a:r>
          </a:p>
        </p:txBody>
      </p:sp>
      <p:grpSp>
        <p:nvGrpSpPr>
          <p:cNvPr id="126" name="Group 13"/>
          <p:cNvGrpSpPr/>
          <p:nvPr/>
        </p:nvGrpSpPr>
        <p:grpSpPr>
          <a:xfrm>
            <a:off x="6414246" y="1247493"/>
            <a:ext cx="5643283" cy="1415025"/>
            <a:chOff x="0" y="0"/>
            <a:chExt cx="5643281" cy="1415023"/>
          </a:xfrm>
        </p:grpSpPr>
        <p:grpSp>
          <p:nvGrpSpPr>
            <p:cNvPr id="121" name="Rectangle 6"/>
            <p:cNvGrpSpPr/>
            <p:nvPr/>
          </p:nvGrpSpPr>
          <p:grpSpPr>
            <a:xfrm>
              <a:off x="-1" y="-1"/>
              <a:ext cx="2402542" cy="1415025"/>
              <a:chOff x="0" y="0"/>
              <a:chExt cx="2402540" cy="1415023"/>
            </a:xfrm>
          </p:grpSpPr>
          <p:sp>
            <p:nvSpPr>
              <p:cNvPr id="119" name="Rectangle"/>
              <p:cNvSpPr/>
              <p:nvPr/>
            </p:nvSpPr>
            <p:spPr>
              <a:xfrm>
                <a:off x="0" y="-1"/>
                <a:ext cx="2402541" cy="1415025"/>
              </a:xfrm>
              <a:prstGeom prst="rect">
                <a:avLst/>
              </a:pr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20" name="Incident Drug Use"/>
              <p:cNvSpPr txBox="1"/>
              <p:nvPr/>
            </p:nvSpPr>
            <p:spPr>
              <a:xfrm>
                <a:off x="45720" y="293491"/>
                <a:ext cx="2311102" cy="8280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24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Incident Drug Use</a:t>
                </a:r>
              </a:p>
            </p:txBody>
          </p:sp>
        </p:grpSp>
        <p:grpSp>
          <p:nvGrpSpPr>
            <p:cNvPr id="124" name="Rectangle 8"/>
            <p:cNvGrpSpPr/>
            <p:nvPr/>
          </p:nvGrpSpPr>
          <p:grpSpPr>
            <a:xfrm>
              <a:off x="3240740" y="-1"/>
              <a:ext cx="2402542" cy="1415025"/>
              <a:chOff x="0" y="0"/>
              <a:chExt cx="2402540" cy="1415023"/>
            </a:xfrm>
          </p:grpSpPr>
          <p:sp>
            <p:nvSpPr>
              <p:cNvPr id="122" name="Rectangle"/>
              <p:cNvSpPr/>
              <p:nvPr/>
            </p:nvSpPr>
            <p:spPr>
              <a:xfrm>
                <a:off x="0" y="-1"/>
                <a:ext cx="2402541" cy="1415025"/>
              </a:xfrm>
              <a:prstGeom prst="rect">
                <a:avLst/>
              </a:pr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23" name="Major Depressive Episode"/>
              <p:cNvSpPr txBox="1"/>
              <p:nvPr/>
            </p:nvSpPr>
            <p:spPr>
              <a:xfrm>
                <a:off x="45720" y="109341"/>
                <a:ext cx="2311102" cy="1196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24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Major Depressive Episode</a:t>
                </a:r>
              </a:p>
            </p:txBody>
          </p:sp>
        </p:grpSp>
        <p:sp>
          <p:nvSpPr>
            <p:cNvPr id="125" name="Straight Arrow Connector 10"/>
            <p:cNvSpPr/>
            <p:nvPr/>
          </p:nvSpPr>
          <p:spPr>
            <a:xfrm>
              <a:off x="2402540" y="707512"/>
              <a:ext cx="838201" cy="1"/>
            </a:xfrm>
            <a:prstGeom prst="line">
              <a:avLst/>
            </a:prstGeom>
            <a:noFill/>
            <a:ln w="57150" cap="flat">
              <a:solidFill>
                <a:srgbClr val="000000"/>
              </a:solidFill>
              <a:prstDash val="solid"/>
              <a:miter lim="800000"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34" name="Group 14"/>
          <p:cNvGrpSpPr/>
          <p:nvPr/>
        </p:nvGrpSpPr>
        <p:grpSpPr>
          <a:xfrm>
            <a:off x="6414246" y="3657605"/>
            <a:ext cx="5643283" cy="1283723"/>
            <a:chOff x="0" y="0"/>
            <a:chExt cx="5643281" cy="1283722"/>
          </a:xfrm>
        </p:grpSpPr>
        <p:grpSp>
          <p:nvGrpSpPr>
            <p:cNvPr id="129" name="Rectangle 15"/>
            <p:cNvGrpSpPr/>
            <p:nvPr/>
          </p:nvGrpSpPr>
          <p:grpSpPr>
            <a:xfrm>
              <a:off x="-1" y="-1"/>
              <a:ext cx="2402542" cy="1283724"/>
              <a:chOff x="0" y="0"/>
              <a:chExt cx="2402540" cy="1283722"/>
            </a:xfrm>
          </p:grpSpPr>
          <p:sp>
            <p:nvSpPr>
              <p:cNvPr id="127" name="Rectangle"/>
              <p:cNvSpPr/>
              <p:nvPr/>
            </p:nvSpPr>
            <p:spPr>
              <a:xfrm>
                <a:off x="0" y="-1"/>
                <a:ext cx="2402541" cy="1283724"/>
              </a:xfrm>
              <a:prstGeom prst="rect">
                <a:avLst/>
              </a:prstGeom>
              <a:solidFill>
                <a:schemeClr val="accent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28" name="Incident use of…"/>
              <p:cNvSpPr txBox="1"/>
              <p:nvPr/>
            </p:nvSpPr>
            <p:spPr>
              <a:xfrm>
                <a:off x="45720" y="227841"/>
                <a:ext cx="2311102" cy="8280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/>
              <a:p>
                <a:pPr algn="ctr">
                  <a:defRPr sz="2400"/>
                </a:pPr>
                <a:r>
                  <a:t>Incident use of</a:t>
                </a:r>
              </a:p>
              <a:p>
                <a:pPr algn="ctr">
                  <a:defRPr sz="2400"/>
                </a:pPr>
                <a:r>
                  <a:t>“soft drugs”</a:t>
                </a:r>
              </a:p>
            </p:txBody>
          </p:sp>
        </p:grpSp>
        <p:grpSp>
          <p:nvGrpSpPr>
            <p:cNvPr id="132" name="Rectangle 16"/>
            <p:cNvGrpSpPr/>
            <p:nvPr/>
          </p:nvGrpSpPr>
          <p:grpSpPr>
            <a:xfrm>
              <a:off x="3240740" y="-1"/>
              <a:ext cx="2402542" cy="1283724"/>
              <a:chOff x="0" y="0"/>
              <a:chExt cx="2402540" cy="1283722"/>
            </a:xfrm>
          </p:grpSpPr>
          <p:sp>
            <p:nvSpPr>
              <p:cNvPr id="130" name="Rectangle"/>
              <p:cNvSpPr/>
              <p:nvPr/>
            </p:nvSpPr>
            <p:spPr>
              <a:xfrm>
                <a:off x="0" y="-1"/>
                <a:ext cx="2402541" cy="1283724"/>
              </a:xfrm>
              <a:prstGeom prst="rect">
                <a:avLst/>
              </a:pr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31" name="Major Depressive Episode"/>
              <p:cNvSpPr txBox="1"/>
              <p:nvPr/>
            </p:nvSpPr>
            <p:spPr>
              <a:xfrm>
                <a:off x="45720" y="43691"/>
                <a:ext cx="2311102" cy="1196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24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Major Depressive Episode</a:t>
                </a:r>
              </a:p>
            </p:txBody>
          </p:sp>
        </p:grpSp>
        <p:sp>
          <p:nvSpPr>
            <p:cNvPr id="133" name="Straight Arrow Connector 17"/>
            <p:cNvSpPr/>
            <p:nvPr/>
          </p:nvSpPr>
          <p:spPr>
            <a:xfrm>
              <a:off x="2402540" y="641861"/>
              <a:ext cx="838201" cy="1"/>
            </a:xfrm>
            <a:prstGeom prst="line">
              <a:avLst/>
            </a:prstGeom>
            <a:noFill/>
            <a:ln w="57150" cap="flat">
              <a:solidFill>
                <a:srgbClr val="000000"/>
              </a:solidFill>
              <a:prstDash val="solid"/>
              <a:miter lim="800000"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42" name="Group 18"/>
          <p:cNvGrpSpPr/>
          <p:nvPr/>
        </p:nvGrpSpPr>
        <p:grpSpPr>
          <a:xfrm>
            <a:off x="6414246" y="5176182"/>
            <a:ext cx="5643283" cy="1402093"/>
            <a:chOff x="0" y="0"/>
            <a:chExt cx="5643281" cy="1402092"/>
          </a:xfrm>
        </p:grpSpPr>
        <p:grpSp>
          <p:nvGrpSpPr>
            <p:cNvPr id="137" name="Rectangle 19"/>
            <p:cNvGrpSpPr/>
            <p:nvPr/>
          </p:nvGrpSpPr>
          <p:grpSpPr>
            <a:xfrm>
              <a:off x="-1" y="-1"/>
              <a:ext cx="2402542" cy="1402094"/>
              <a:chOff x="0" y="0"/>
              <a:chExt cx="2402540" cy="1402092"/>
            </a:xfrm>
          </p:grpSpPr>
          <p:sp>
            <p:nvSpPr>
              <p:cNvPr id="135" name="Rectangle"/>
              <p:cNvSpPr/>
              <p:nvPr/>
            </p:nvSpPr>
            <p:spPr>
              <a:xfrm>
                <a:off x="0" y="-1"/>
                <a:ext cx="2402541" cy="1402094"/>
              </a:xfrm>
              <a:prstGeom prst="rect">
                <a:avLst/>
              </a:prstGeom>
              <a:solidFill>
                <a:schemeClr val="accent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36" name="Incident Use of…"/>
              <p:cNvSpPr txBox="1"/>
              <p:nvPr/>
            </p:nvSpPr>
            <p:spPr>
              <a:xfrm>
                <a:off x="45720" y="287026"/>
                <a:ext cx="2311102" cy="8280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/>
              <a:p>
                <a:pPr algn="ctr">
                  <a:defRPr sz="2400"/>
                </a:pPr>
                <a:r>
                  <a:t>Incident Use of </a:t>
                </a:r>
              </a:p>
              <a:p>
                <a:pPr algn="ctr">
                  <a:defRPr sz="2400"/>
                </a:pPr>
                <a:r>
                  <a:t>”hard” drugs</a:t>
                </a:r>
              </a:p>
            </p:txBody>
          </p:sp>
        </p:grpSp>
        <p:grpSp>
          <p:nvGrpSpPr>
            <p:cNvPr id="140" name="Rectangle 20"/>
            <p:cNvGrpSpPr/>
            <p:nvPr/>
          </p:nvGrpSpPr>
          <p:grpSpPr>
            <a:xfrm>
              <a:off x="3240740" y="-1"/>
              <a:ext cx="2402542" cy="1402094"/>
              <a:chOff x="0" y="0"/>
              <a:chExt cx="2402540" cy="1402092"/>
            </a:xfrm>
          </p:grpSpPr>
          <p:sp>
            <p:nvSpPr>
              <p:cNvPr id="138" name="Rectangle"/>
              <p:cNvSpPr/>
              <p:nvPr/>
            </p:nvSpPr>
            <p:spPr>
              <a:xfrm>
                <a:off x="0" y="-1"/>
                <a:ext cx="2402541" cy="1402094"/>
              </a:xfrm>
              <a:prstGeom prst="rect">
                <a:avLst/>
              </a:pr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39" name="Major Depressive Episode"/>
              <p:cNvSpPr txBox="1"/>
              <p:nvPr/>
            </p:nvSpPr>
            <p:spPr>
              <a:xfrm>
                <a:off x="45720" y="102876"/>
                <a:ext cx="2311102" cy="11963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24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Major Depressive Episode</a:t>
                </a:r>
              </a:p>
            </p:txBody>
          </p:sp>
        </p:grpSp>
        <p:sp>
          <p:nvSpPr>
            <p:cNvPr id="141" name="Straight Arrow Connector 21"/>
            <p:cNvSpPr/>
            <p:nvPr/>
          </p:nvSpPr>
          <p:spPr>
            <a:xfrm>
              <a:off x="2402540" y="701046"/>
              <a:ext cx="838201" cy="1"/>
            </a:xfrm>
            <a:prstGeom prst="line">
              <a:avLst/>
            </a:prstGeom>
            <a:noFill/>
            <a:ln w="57150" cap="flat">
              <a:solidFill>
                <a:srgbClr val="000000"/>
              </a:solidFill>
              <a:prstDash val="solid"/>
              <a:miter lim="800000"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pPr/>
            <a:r>
              <a:t>Note to think about... </a:t>
            </a:r>
          </a:p>
        </p:txBody>
      </p:sp>
      <p:sp>
        <p:nvSpPr>
          <p:cNvPr id="145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How we could have answered aim 2....</a:t>
            </a:r>
          </a:p>
          <a:p>
            <a:pPr marL="514350" indent="-514350">
              <a:buFontTx/>
              <a:buAutoNum type="arabicPeriod" startAt="1"/>
            </a:pPr>
            <a:r>
              <a:t>Test for effect modification </a:t>
            </a:r>
          </a:p>
          <a:p>
            <a:pPr lvl="1" marL="971550" indent="-514350">
              <a:spcBef>
                <a:spcPts val="500"/>
              </a:spcBef>
              <a:defRPr sz="2400"/>
            </a:pPr>
            <a:r>
              <a:t>Tells us whether there are significant differences in the exposure-outcome relationship </a:t>
            </a:r>
          </a:p>
          <a:p>
            <a:pPr lvl="1" marL="971550" indent="-514350">
              <a:spcBef>
                <a:spcPts val="500"/>
              </a:spcBef>
              <a:defRPr sz="2400"/>
            </a:pPr>
            <a:r>
              <a:t>Doesn't tell us the magnitude of association (need stratified models for that)</a:t>
            </a:r>
          </a:p>
          <a:p>
            <a:pPr marL="514350" indent="-514350">
              <a:buFontTx/>
              <a:buAutoNum type="arabicPeriod" startAt="1"/>
            </a:pPr>
            <a:r>
              <a:t>Stratified models [what we did]</a:t>
            </a:r>
          </a:p>
          <a:p>
            <a:pPr lvl="1" marL="971550" indent="-514350">
              <a:spcBef>
                <a:spcPts val="500"/>
              </a:spcBef>
              <a:defRPr sz="2400"/>
            </a:pPr>
            <a:r>
              <a:t>Tells us the strength of association between exposure-outcome across levels</a:t>
            </a:r>
          </a:p>
          <a:p>
            <a:pPr lvl="1" marL="971550" indent="-514350">
              <a:spcBef>
                <a:spcPts val="500"/>
              </a:spcBef>
              <a:defRPr sz="2400"/>
            </a:pPr>
            <a:r>
              <a:t>Doesn't tell us if differences are significant </a:t>
            </a:r>
          </a:p>
        </p:txBody>
      </p:sp>
      <p:sp>
        <p:nvSpPr>
          <p:cNvPr id="146" name="Slide Number Placeholder 3"/>
          <p:cNvSpPr txBox="1"/>
          <p:nvPr>
            <p:ph type="sldNum" sz="quarter" idx="2"/>
          </p:nvPr>
        </p:nvSpPr>
        <p:spPr>
          <a:xfrm>
            <a:off x="11164902" y="6404292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itle 1"/>
          <p:cNvSpPr txBox="1"/>
          <p:nvPr>
            <p:ph type="title"/>
          </p:nvPr>
        </p:nvSpPr>
        <p:spPr>
          <a:xfrm>
            <a:off x="831850" y="1709738"/>
            <a:ext cx="10515600" cy="2852738"/>
          </a:xfrm>
          <a:prstGeom prst="rect">
            <a:avLst/>
          </a:prstGeom>
        </p:spPr>
        <p:txBody>
          <a:bodyPr/>
          <a:lstStyle/>
          <a:p>
            <a:pPr/>
            <a:r>
              <a:t>Methods</a:t>
            </a:r>
          </a:p>
        </p:txBody>
      </p:sp>
      <p:sp>
        <p:nvSpPr>
          <p:cNvPr id="149" name="Slide Number Placeholder 3"/>
          <p:cNvSpPr txBox="1"/>
          <p:nvPr>
            <p:ph type="sldNum" sz="quarter" idx="2"/>
          </p:nvPr>
        </p:nvSpPr>
        <p:spPr>
          <a:xfrm>
            <a:off x="11164902" y="6404292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Nationally Representative Survey Data</a:t>
            </a:r>
          </a:p>
        </p:txBody>
      </p:sp>
      <p:sp>
        <p:nvSpPr>
          <p:cNvPr id="152" name="Content Placeholder 2"/>
          <p:cNvSpPr txBox="1"/>
          <p:nvPr>
            <p:ph type="body" idx="1"/>
          </p:nvPr>
        </p:nvSpPr>
        <p:spPr>
          <a:xfrm>
            <a:off x="838200" y="1690688"/>
            <a:ext cx="10515600" cy="480218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defRPr b="1" sz="2500"/>
            </a:pPr>
            <a:r>
              <a:t>National Survey on Drug Use and Health, 2023</a:t>
            </a:r>
          </a:p>
          <a:p>
            <a:pPr lvl="1" marL="685800" indent="-228600">
              <a:lnSpc>
                <a:spcPct val="100000"/>
              </a:lnSpc>
              <a:spcBef>
                <a:spcPts val="500"/>
              </a:spcBef>
              <a:defRPr sz="2200"/>
            </a:pPr>
            <a:r>
              <a:t>Substance Abuse and Mental Health Services Administration</a:t>
            </a:r>
            <a:endParaRPr sz="2500"/>
          </a:p>
          <a:p>
            <a:pPr>
              <a:lnSpc>
                <a:spcPct val="100000"/>
              </a:lnSpc>
              <a:defRPr b="1" sz="2500"/>
            </a:pPr>
            <a:r>
              <a:t>Target Population: </a:t>
            </a:r>
          </a:p>
          <a:p>
            <a:pPr lvl="1" marL="685800" indent="-228600">
              <a:lnSpc>
                <a:spcPct val="100000"/>
              </a:lnSpc>
              <a:spcBef>
                <a:spcPts val="500"/>
              </a:spcBef>
              <a:defRPr sz="2200"/>
            </a:pPr>
            <a:r>
              <a:t>Non-institutionalized US civilians, age ≥12 years</a:t>
            </a:r>
          </a:p>
          <a:p>
            <a:pPr lvl="1" marL="685800" indent="-228600">
              <a:lnSpc>
                <a:spcPct val="100000"/>
              </a:lnSpc>
              <a:spcBef>
                <a:spcPts val="500"/>
              </a:spcBef>
              <a:defRPr sz="2200"/>
            </a:pPr>
            <a:r>
              <a:t>Includes households, group quarters, &amp; homeless shelters</a:t>
            </a:r>
          </a:p>
          <a:p>
            <a:pPr>
              <a:lnSpc>
                <a:spcPct val="100000"/>
              </a:lnSpc>
              <a:defRPr b="1" sz="2500"/>
            </a:pPr>
            <a:r>
              <a:t>Analytic Sample: </a:t>
            </a:r>
          </a:p>
          <a:p>
            <a:pPr lvl="1" marL="685800" indent="-228600">
              <a:lnSpc>
                <a:spcPct val="100000"/>
              </a:lnSpc>
              <a:spcBef>
                <a:spcPts val="500"/>
              </a:spcBef>
              <a:defRPr sz="2200"/>
            </a:pPr>
            <a:r>
              <a:t>Youth age 12-17 years with complete data</a:t>
            </a:r>
          </a:p>
          <a:p>
            <a:pPr>
              <a:lnSpc>
                <a:spcPct val="100000"/>
              </a:lnSpc>
              <a:defRPr b="1" sz="2500"/>
            </a:pPr>
            <a:r>
              <a:t>Multistage complex sampling</a:t>
            </a:r>
          </a:p>
          <a:p>
            <a:pPr lvl="1" marL="685800" indent="-228600">
              <a:lnSpc>
                <a:spcPct val="100000"/>
              </a:lnSpc>
              <a:spcBef>
                <a:spcPts val="500"/>
              </a:spcBef>
              <a:defRPr sz="2200"/>
            </a:pPr>
            <a:r>
              <a:t>Based on geography, age, biological sex, and race/ethnicity</a:t>
            </a:r>
          </a:p>
          <a:p>
            <a:pPr lvl="1" marL="685800" indent="-228600">
              <a:lnSpc>
                <a:spcPct val="100000"/>
              </a:lnSpc>
              <a:spcBef>
                <a:spcPts val="500"/>
              </a:spcBef>
              <a:defRPr sz="2200"/>
            </a:pPr>
            <a:r>
              <a:t>Variance estimation based on Taylor series linearization approach</a:t>
            </a:r>
          </a:p>
        </p:txBody>
      </p:sp>
      <p:sp>
        <p:nvSpPr>
          <p:cNvPr id="153" name="Slide Number Placeholder 3"/>
          <p:cNvSpPr txBox="1"/>
          <p:nvPr>
            <p:ph type="sldNum" sz="quarter" idx="2"/>
          </p:nvPr>
        </p:nvSpPr>
        <p:spPr>
          <a:xfrm>
            <a:off x="11164902" y="6404292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itle 4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Exposure: Incident Drug Use</a:t>
            </a:r>
          </a:p>
        </p:txBody>
      </p:sp>
      <p:sp>
        <p:nvSpPr>
          <p:cNvPr id="156" name="Content Placeholder 5"/>
          <p:cNvSpPr txBox="1"/>
          <p:nvPr>
            <p:ph type="body" sz="half" idx="1"/>
          </p:nvPr>
        </p:nvSpPr>
        <p:spPr>
          <a:xfrm>
            <a:off x="551596" y="1701160"/>
            <a:ext cx="5098577" cy="4837751"/>
          </a:xfrm>
          <a:prstGeom prst="rect">
            <a:avLst/>
          </a:prstGeom>
        </p:spPr>
        <p:txBody>
          <a:bodyPr/>
          <a:lstStyle/>
          <a:p>
            <a:pPr>
              <a:buClr>
                <a:srgbClr val="000000"/>
              </a:buClr>
            </a:pPr>
            <a:r>
              <a:t>Audio computer-assisted. Self-interviews in-person or via web</a:t>
            </a:r>
          </a:p>
          <a:p>
            <a:pPr>
              <a:buClr>
                <a:srgbClr val="000000"/>
              </a:buClr>
            </a:pPr>
            <a:r>
              <a:t>Survey Question: “Have you ever, even once, used…?” Or “Have you ever smoked part or all of…?”</a:t>
            </a:r>
          </a:p>
          <a:p>
            <a:pPr lvl="1">
              <a:buClr>
                <a:srgbClr val="000000"/>
              </a:buClr>
            </a:pPr>
            <a:r>
              <a:t> Whole portions specified</a:t>
            </a:r>
          </a:p>
          <a:p>
            <a:pPr/>
            <a:r>
              <a:t>Defined as binary yes/no variable for having ever tried at least one drug listed</a:t>
            </a:r>
          </a:p>
        </p:txBody>
      </p:sp>
      <p:grpSp>
        <p:nvGrpSpPr>
          <p:cNvPr id="159" name="Rectangle 1"/>
          <p:cNvGrpSpPr/>
          <p:nvPr/>
        </p:nvGrpSpPr>
        <p:grpSpPr>
          <a:xfrm>
            <a:off x="5765368" y="1825625"/>
            <a:ext cx="6054599" cy="2175668"/>
            <a:chOff x="0" y="0"/>
            <a:chExt cx="6054597" cy="2175667"/>
          </a:xfrm>
        </p:grpSpPr>
        <p:sp>
          <p:nvSpPr>
            <p:cNvPr id="157" name="Rectangle"/>
            <p:cNvSpPr/>
            <p:nvPr/>
          </p:nvSpPr>
          <p:spPr>
            <a:xfrm>
              <a:off x="-1" y="0"/>
              <a:ext cx="6054599" cy="2175668"/>
            </a:xfrm>
            <a:prstGeom prst="rect">
              <a:avLst/>
            </a:prstGeom>
            <a:solidFill>
              <a:schemeClr val="accent4"/>
            </a:solidFill>
            <a:ln w="254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58" name="“Soft” Drugs…"/>
            <p:cNvSpPr txBox="1"/>
            <p:nvPr/>
          </p:nvSpPr>
          <p:spPr>
            <a:xfrm>
              <a:off x="58419" y="12700"/>
              <a:ext cx="5937758" cy="2034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b="1" sz="3200">
                  <a:solidFill>
                    <a:srgbClr val="FFFFFF"/>
                  </a:solidFill>
                </a:defRPr>
              </a:pPr>
              <a:r>
                <a:t>“Soft” Drugs</a:t>
              </a:r>
            </a:p>
            <a:p>
              <a:pPr algn="ctr">
                <a:defRPr b="1" sz="1100">
                  <a:solidFill>
                    <a:srgbClr val="FFFFFF"/>
                  </a:solidFill>
                </a:defRPr>
              </a:pPr>
            </a:p>
            <a:p>
              <a:pPr>
                <a:defRPr sz="2800">
                  <a:solidFill>
                    <a:srgbClr val="FFFFFF"/>
                  </a:solidFill>
                </a:defRPr>
              </a:pPr>
              <a:r>
                <a:t>Alcohol, nicotine (e.g., cigarettes, cigars, vape, smokeless tobacco), marijuana, CBD/hemp</a:t>
              </a:r>
            </a:p>
          </p:txBody>
        </p:sp>
      </p:grpSp>
      <p:grpSp>
        <p:nvGrpSpPr>
          <p:cNvPr id="162" name="Rectangle 7"/>
          <p:cNvGrpSpPr/>
          <p:nvPr/>
        </p:nvGrpSpPr>
        <p:grpSpPr>
          <a:xfrm>
            <a:off x="5701251" y="4314235"/>
            <a:ext cx="6182833" cy="2362950"/>
            <a:chOff x="0" y="0"/>
            <a:chExt cx="6182831" cy="2362948"/>
          </a:xfrm>
        </p:grpSpPr>
        <p:sp>
          <p:nvSpPr>
            <p:cNvPr id="160" name="Rectangle"/>
            <p:cNvSpPr/>
            <p:nvPr/>
          </p:nvSpPr>
          <p:spPr>
            <a:xfrm>
              <a:off x="0" y="0"/>
              <a:ext cx="6182832" cy="2221749"/>
            </a:xfrm>
            <a:prstGeom prst="rect">
              <a:avLst/>
            </a:prstGeom>
            <a:solidFill>
              <a:schemeClr val="accent4"/>
            </a:solidFill>
            <a:ln w="254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1" name="“Hard” Drugs…"/>
            <p:cNvSpPr txBox="1"/>
            <p:nvPr/>
          </p:nvSpPr>
          <p:spPr>
            <a:xfrm>
              <a:off x="59657" y="12968"/>
              <a:ext cx="6063518" cy="23499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defRPr b="1" sz="3200">
                  <a:solidFill>
                    <a:srgbClr val="FFFFFF"/>
                  </a:solidFill>
                </a:defRPr>
              </a:pPr>
              <a:r>
                <a:t>“Hard” Drugs</a:t>
              </a:r>
              <a:endParaRPr sz="1100"/>
            </a:p>
            <a:p>
              <a:pPr>
                <a:defRPr sz="2800">
                  <a:solidFill>
                    <a:srgbClr val="FFFFFF"/>
                  </a:solidFill>
                </a:defRPr>
              </a:pPr>
              <a:r>
                <a:t>Cocaine, crack, methamphetamine, heroin, hallucinogenics, inhalants, non-medical use of prescription drugs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itle 4"/>
          <p:cNvSpPr txBox="1"/>
          <p:nvPr>
            <p:ph type="title"/>
          </p:nvPr>
        </p:nvSpPr>
        <p:spPr>
          <a:xfrm>
            <a:off x="838199" y="365125"/>
            <a:ext cx="10977469" cy="894187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/>
            <a:r>
              <a:t>Outcome: Major Depressive Episode (MDE)</a:t>
            </a:r>
          </a:p>
        </p:txBody>
      </p:sp>
      <p:graphicFrame>
        <p:nvGraphicFramePr>
          <p:cNvPr id="165" name="Content Placeholder 6"/>
          <p:cNvGraphicFramePr/>
          <p:nvPr/>
        </p:nvGraphicFramePr>
        <p:xfrm>
          <a:off x="4706854" y="1265661"/>
          <a:ext cx="7897611" cy="538666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{EEE7283C-3CF3-47DC-8721-378D4A62B228}</a:tableStyleId>
              </a:tblPr>
              <a:tblGrid>
                <a:gridCol w="7340600"/>
              </a:tblGrid>
              <a:tr h="809616">
                <a:tc>
                  <a:txBody>
                    <a:bodyPr/>
                    <a:lstStyle/>
                    <a:p>
                      <a:pPr algn="l">
                        <a:defRPr sz="2000">
                          <a:sym typeface="Aptos"/>
                        </a:defRPr>
                      </a:pPr>
                      <a:r>
                        <a:t>DSM-5 Criteria </a:t>
                      </a:r>
                    </a:p>
                    <a:p>
                      <a:pPr algn="l">
                        <a:defRPr b="0" sz="1800">
                          <a:sym typeface="Aptos"/>
                        </a:defRPr>
                      </a:pPr>
                      <a:r>
                        <a:t>[MDE: 5/9 items, must include “depressed mood/loss of interest”]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6263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Aptos"/>
                        </a:rPr>
                        <a:t>1. Depressed mood most of the day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6263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Aptos"/>
                        </a:rPr>
                        <a:t>2. Markedly diminished loss of interest or pleasure in all or almost all activities most of the day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6263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Aptos"/>
                        </a:rPr>
                        <a:t>3. Significant weight loss, weight gain, or decrease in appetite 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6263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Aptos"/>
                        </a:rPr>
                        <a:t>4. Insomnia or hypersomnia 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6263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Aptos"/>
                        </a:rPr>
                        <a:t>5. Psychomotor agitation or retardation at a level observable by others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6263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Aptos"/>
                        </a:rPr>
                        <a:t>6. Fatigue or loss of energy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6263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Aptos"/>
                        </a:rPr>
                        <a:t>7. Feelings of worthlessness, excessive or inappropriate guilt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6263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Aptos"/>
                        </a:rPr>
                        <a:t>8. Diminished ability to think, concentrate, or indecisiveness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6263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Aptos"/>
                        </a:rPr>
                        <a:t>9. Recurrent thoughts of death or suicidality (recurrent suicidal ideation without a specific plan, making a specific plan, or making an attempt)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  <p:sp>
        <p:nvSpPr>
          <p:cNvPr id="166" name="Slide Number Placeholder 3"/>
          <p:cNvSpPr txBox="1"/>
          <p:nvPr>
            <p:ph type="sldNum" sz="quarter" idx="2"/>
          </p:nvPr>
        </p:nvSpPr>
        <p:spPr>
          <a:xfrm>
            <a:off x="11915470" y="6563849"/>
            <a:ext cx="273656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67" name="TextBox 7"/>
          <p:cNvSpPr txBox="1"/>
          <p:nvPr/>
        </p:nvSpPr>
        <p:spPr>
          <a:xfrm>
            <a:off x="330164" y="1860580"/>
            <a:ext cx="3343590" cy="397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buSzPct val="100000"/>
              <a:buFont typeface="Arial"/>
              <a:buChar char="•"/>
              <a:defRPr sz="2800">
                <a:latin typeface="Lato"/>
                <a:ea typeface="Lato"/>
                <a:cs typeface="Lato"/>
                <a:sym typeface="Lato"/>
              </a:defRPr>
            </a:pPr>
            <a:r>
              <a:t>Lifetime history</a:t>
            </a:r>
            <a:endParaRPr>
              <a:solidFill>
                <a:srgbClr val="FF0000"/>
              </a:solidFill>
            </a:endParaRPr>
          </a:p>
          <a:p>
            <a:pPr marL="285750" indent="-285750">
              <a:buSzPct val="100000"/>
              <a:buFont typeface="Arial"/>
              <a:buChar char="•"/>
              <a:defRPr sz="28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Self reported; asked questions pertaining to 9 DSM-5 criteria</a:t>
            </a:r>
          </a:p>
          <a:p>
            <a:pPr marL="285750" indent="-285750">
              <a:buSzPct val="100000"/>
              <a:buFont typeface="Arial"/>
              <a:buChar char="•"/>
              <a:defRPr sz="2800">
                <a:latin typeface="Lato"/>
                <a:ea typeface="Lato"/>
                <a:cs typeface="Lato"/>
                <a:sym typeface="Lato"/>
              </a:defRPr>
            </a:pPr>
            <a:r>
              <a:t>Defined as binary yes/no variable for lifetime history of MDE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itle 1"/>
          <p:cNvSpPr txBox="1"/>
          <p:nvPr>
            <p:ph type="title"/>
          </p:nvPr>
        </p:nvSpPr>
        <p:spPr>
          <a:xfrm>
            <a:off x="355412" y="371871"/>
            <a:ext cx="10515601" cy="1011238"/>
          </a:xfrm>
          <a:prstGeom prst="rect">
            <a:avLst/>
          </a:prstGeom>
        </p:spPr>
        <p:txBody>
          <a:bodyPr/>
          <a:lstStyle/>
          <a:p>
            <a:pPr/>
            <a:r>
              <a:t>Statistical Analysis</a:t>
            </a:r>
          </a:p>
        </p:txBody>
      </p:sp>
      <p:sp>
        <p:nvSpPr>
          <p:cNvPr id="170" name="Content Placeholder 2"/>
          <p:cNvSpPr txBox="1"/>
          <p:nvPr>
            <p:ph type="body" idx="1"/>
          </p:nvPr>
        </p:nvSpPr>
        <p:spPr>
          <a:xfrm>
            <a:off x="354843" y="1253331"/>
            <a:ext cx="11586948" cy="435133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t> Cross-sectional, secondary data analysis</a:t>
            </a:r>
          </a:p>
          <a:p>
            <a:pPr>
              <a:lnSpc>
                <a:spcPct val="100000"/>
              </a:lnSpc>
            </a:pPr>
            <a:r>
              <a:t> Survey-weighted logistic regression</a:t>
            </a:r>
          </a:p>
          <a:p>
            <a:pPr lvl="1" marL="685800" indent="-228600">
              <a:lnSpc>
                <a:spcPct val="100000"/>
              </a:lnSpc>
              <a:spcBef>
                <a:spcPts val="500"/>
              </a:spcBef>
              <a:defRPr sz="2400"/>
            </a:pPr>
            <a:r>
              <a:t>Odds ratios (OR) and 95% confidence intervals (CI)</a:t>
            </a:r>
          </a:p>
          <a:p>
            <a:pPr lvl="1" marL="685800" indent="-228600">
              <a:lnSpc>
                <a:spcPct val="100000"/>
              </a:lnSpc>
              <a:spcBef>
                <a:spcPts val="500"/>
              </a:spcBef>
              <a:defRPr sz="2400"/>
            </a:pPr>
            <a:r>
              <a:t>Candidate confounders based on literature review; confirmed by statistically significant chi-square tests between variable with exposure and outcome.</a:t>
            </a:r>
          </a:p>
          <a:p>
            <a:pPr lvl="1" marL="685800" indent="-228600">
              <a:lnSpc>
                <a:spcPct val="100000"/>
              </a:lnSpc>
              <a:spcBef>
                <a:spcPts val="500"/>
              </a:spcBef>
              <a:defRPr sz="2400"/>
            </a:pPr>
            <a:r>
              <a:t>Model selection: time-oriented epochs </a:t>
            </a:r>
          </a:p>
          <a:p>
            <a:pPr lvl="1" marL="685800" indent="-228600">
              <a:lnSpc>
                <a:spcPct val="100000"/>
              </a:lnSpc>
              <a:spcBef>
                <a:spcPts val="500"/>
              </a:spcBef>
              <a:defRPr sz="2400">
                <a:solidFill>
                  <a:srgbClr val="FF0000"/>
                </a:solidFill>
              </a:defRPr>
            </a:pPr>
            <a:r>
              <a:t>Fit statistics </a:t>
            </a:r>
            <a:r>
              <a:rPr>
                <a:latin typeface="Wingdings"/>
                <a:ea typeface="Wingdings"/>
                <a:cs typeface="Wingdings"/>
                <a:sym typeface="Wingdings"/>
              </a:rPr>
              <a:t> </a:t>
            </a:r>
            <a:r>
              <a:t>the only thing we have to go back to do</a:t>
            </a:r>
          </a:p>
        </p:txBody>
      </p:sp>
      <p:sp>
        <p:nvSpPr>
          <p:cNvPr id="171" name="Slide Number Placeholder 3"/>
          <p:cNvSpPr txBox="1"/>
          <p:nvPr>
            <p:ph type="sldNum" sz="quarter" idx="2"/>
          </p:nvPr>
        </p:nvSpPr>
        <p:spPr>
          <a:xfrm>
            <a:off x="11681069" y="6377487"/>
            <a:ext cx="262420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174" name="Rectangle 4"/>
          <p:cNvGrpSpPr/>
          <p:nvPr/>
        </p:nvGrpSpPr>
        <p:grpSpPr>
          <a:xfrm>
            <a:off x="1340737" y="4910078"/>
            <a:ext cx="2934272" cy="1688864"/>
            <a:chOff x="0" y="0"/>
            <a:chExt cx="2934270" cy="1688862"/>
          </a:xfrm>
        </p:grpSpPr>
        <p:sp>
          <p:nvSpPr>
            <p:cNvPr id="172" name="Rectangle"/>
            <p:cNvSpPr/>
            <p:nvPr/>
          </p:nvSpPr>
          <p:spPr>
            <a:xfrm>
              <a:off x="-1" y="0"/>
              <a:ext cx="2934272" cy="1688863"/>
            </a:xfrm>
            <a:prstGeom prst="rect">
              <a:avLst/>
            </a:prstGeom>
            <a:solidFill>
              <a:srgbClr val="F6E7C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3" name="Biological…"/>
            <p:cNvSpPr txBox="1"/>
            <p:nvPr/>
          </p:nvSpPr>
          <p:spPr>
            <a:xfrm>
              <a:off x="45719" y="0"/>
              <a:ext cx="2842832" cy="1259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b="1" sz="2800"/>
              </a:pPr>
              <a:r>
                <a:t>Biological</a:t>
              </a:r>
              <a:endParaRPr>
                <a:solidFill>
                  <a:srgbClr val="FFFFFF"/>
                </a:solidFill>
              </a:endParaRPr>
            </a:p>
            <a:p>
              <a:pPr marL="457200" indent="-457200">
                <a:buSzPct val="100000"/>
                <a:buFont typeface="Arial"/>
                <a:buChar char="•"/>
                <a:defRPr sz="2400"/>
              </a:pPr>
              <a:r>
                <a:t>Age group</a:t>
              </a:r>
              <a:endParaRPr>
                <a:solidFill>
                  <a:srgbClr val="FFFFFF"/>
                </a:solidFill>
              </a:endParaRPr>
            </a:p>
            <a:p>
              <a:pPr marL="457200" indent="-457200">
                <a:buSzPct val="100000"/>
                <a:buFont typeface="Arial"/>
                <a:buChar char="•"/>
                <a:defRPr sz="2400"/>
              </a:pPr>
              <a:r>
                <a:t>Biological sex</a:t>
              </a:r>
            </a:p>
          </p:txBody>
        </p:sp>
      </p:grpSp>
      <p:grpSp>
        <p:nvGrpSpPr>
          <p:cNvPr id="177" name="Rectangle 8"/>
          <p:cNvGrpSpPr/>
          <p:nvPr/>
        </p:nvGrpSpPr>
        <p:grpSpPr>
          <a:xfrm>
            <a:off x="4611935" y="4910078"/>
            <a:ext cx="2934271" cy="1688864"/>
            <a:chOff x="0" y="0"/>
            <a:chExt cx="2934270" cy="1688862"/>
          </a:xfrm>
        </p:grpSpPr>
        <p:sp>
          <p:nvSpPr>
            <p:cNvPr id="175" name="Rectangle"/>
            <p:cNvSpPr/>
            <p:nvPr/>
          </p:nvSpPr>
          <p:spPr>
            <a:xfrm>
              <a:off x="-1" y="0"/>
              <a:ext cx="2934272" cy="1688863"/>
            </a:xfrm>
            <a:prstGeom prst="rect">
              <a:avLst/>
            </a:prstGeom>
            <a:solidFill>
              <a:srgbClr val="F2DBA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6" name="Social…"/>
            <p:cNvSpPr txBox="1"/>
            <p:nvPr/>
          </p:nvSpPr>
          <p:spPr>
            <a:xfrm>
              <a:off x="45719" y="30361"/>
              <a:ext cx="2842832" cy="162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2800"/>
              </a:pPr>
              <a:r>
                <a:t>Social</a:t>
              </a:r>
              <a:endParaRPr>
                <a:solidFill>
                  <a:srgbClr val="FFFFFF"/>
                </a:solidFill>
              </a:endParaRPr>
            </a:p>
            <a:p>
              <a:pPr marL="457200" indent="-457200">
                <a:buSzPct val="100000"/>
                <a:buFont typeface="Arial"/>
                <a:buChar char="•"/>
                <a:defRPr sz="2400"/>
              </a:pPr>
              <a:r>
                <a:t>Race/ethnicity</a:t>
              </a:r>
              <a:endParaRPr>
                <a:solidFill>
                  <a:srgbClr val="FFFFFF"/>
                </a:solidFill>
              </a:endParaRPr>
            </a:p>
            <a:p>
              <a:pPr marL="457200" indent="-457200">
                <a:buSzPct val="100000"/>
                <a:buFont typeface="Arial"/>
                <a:buChar char="•"/>
                <a:defRPr sz="2400"/>
              </a:pPr>
              <a:r>
                <a:t>Current grade level</a:t>
              </a:r>
            </a:p>
          </p:txBody>
        </p:sp>
      </p:grpSp>
      <p:grpSp>
        <p:nvGrpSpPr>
          <p:cNvPr id="180" name="Rectangle 9"/>
          <p:cNvGrpSpPr/>
          <p:nvPr/>
        </p:nvGrpSpPr>
        <p:grpSpPr>
          <a:xfrm>
            <a:off x="7883134" y="4910078"/>
            <a:ext cx="2934271" cy="1688864"/>
            <a:chOff x="0" y="0"/>
            <a:chExt cx="2934270" cy="1688862"/>
          </a:xfrm>
        </p:grpSpPr>
        <p:sp>
          <p:nvSpPr>
            <p:cNvPr id="178" name="Rectangle"/>
            <p:cNvSpPr/>
            <p:nvPr/>
          </p:nvSpPr>
          <p:spPr>
            <a:xfrm>
              <a:off x="-1" y="0"/>
              <a:ext cx="2934272" cy="1688863"/>
            </a:xfrm>
            <a:prstGeom prst="rect">
              <a:avLst/>
            </a:pr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9" name="Behavioral…"/>
            <p:cNvSpPr txBox="1"/>
            <p:nvPr/>
          </p:nvSpPr>
          <p:spPr>
            <a:xfrm>
              <a:off x="45719" y="0"/>
              <a:ext cx="2842832" cy="1259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b="1" sz="2800"/>
              </a:pPr>
              <a:r>
                <a:t>Behavioral</a:t>
              </a:r>
              <a:endParaRPr>
                <a:solidFill>
                  <a:srgbClr val="FFFFFF"/>
                </a:solidFill>
              </a:endParaRPr>
            </a:p>
            <a:p>
              <a:pPr marL="457200" indent="-457200">
                <a:buSzPct val="100000"/>
                <a:buFont typeface="Arial"/>
                <a:buChar char="•"/>
                <a:defRPr sz="2400"/>
              </a:pPr>
              <a:r>
                <a:t>Arguments with parents</a:t>
              </a:r>
            </a:p>
          </p:txBody>
        </p:sp>
      </p:grpSp>
      <p:sp>
        <p:nvSpPr>
          <p:cNvPr id="181" name="TextBox 10"/>
          <p:cNvSpPr txBox="1"/>
          <p:nvPr/>
        </p:nvSpPr>
        <p:spPr>
          <a:xfrm rot="16200000">
            <a:off x="-174995" y="5532856"/>
            <a:ext cx="2242328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/>
            </a:lvl1pPr>
          </a:lstStyle>
          <a:p>
            <a:pPr/>
            <a:r>
              <a:t>Confirmed confounders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itle 1"/>
          <p:cNvSpPr txBox="1"/>
          <p:nvPr>
            <p:ph type="title"/>
          </p:nvPr>
        </p:nvSpPr>
        <p:spPr>
          <a:xfrm>
            <a:off x="831850" y="1709738"/>
            <a:ext cx="10515600" cy="2852738"/>
          </a:xfrm>
          <a:prstGeom prst="rect">
            <a:avLst/>
          </a:prstGeom>
        </p:spPr>
        <p:txBody>
          <a:bodyPr/>
          <a:lstStyle/>
          <a:p>
            <a:pPr/>
            <a:r>
              <a:t>Results</a:t>
            </a:r>
          </a:p>
        </p:txBody>
      </p:sp>
      <p:sp>
        <p:nvSpPr>
          <p:cNvPr id="184" name="Text Placeholder 2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5" name="Slide Number Placeholder 3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itle 4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Sample Characteristics</a:t>
            </a:r>
          </a:p>
        </p:txBody>
      </p:sp>
      <p:sp>
        <p:nvSpPr>
          <p:cNvPr id="188" name="Slide Number Placeholder 3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89" name="TextBox 9"/>
          <p:cNvSpPr txBox="1"/>
          <p:nvPr/>
        </p:nvSpPr>
        <p:spPr>
          <a:xfrm>
            <a:off x="688176" y="2004808"/>
            <a:ext cx="3913426" cy="451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28600" indent="-228600">
              <a:buSzPct val="100000"/>
              <a:buChar char="•"/>
              <a:defRPr sz="2400"/>
            </a:pPr>
            <a:r>
              <a:t>Ethnically Non-Hispanic White and Hispanic: accounting for over 75% of sample.</a:t>
            </a:r>
          </a:p>
          <a:p>
            <a:pPr marL="228600" indent="-228600">
              <a:buSzPct val="100000"/>
              <a:buChar char="•"/>
              <a:defRPr sz="2400"/>
            </a:pPr>
            <a:r>
              <a:t>Economically Stable: almost 60% in households with incomes &gt;2x federal poverty threshold.</a:t>
            </a:r>
          </a:p>
          <a:p>
            <a:pPr marL="228600" indent="-228600">
              <a:buSzPct val="100000"/>
              <a:buChar char="•"/>
              <a:defRPr sz="2400">
                <a:solidFill>
                  <a:srgbClr val="FF0000"/>
                </a:solidFill>
              </a:defRPr>
            </a:pPr>
            <a:r>
              <a:t>High Academic Achievement: 96% with grades of A, B, or C.</a:t>
            </a:r>
          </a:p>
        </p:txBody>
      </p:sp>
      <p:pic>
        <p:nvPicPr>
          <p:cNvPr id="190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90912" y="-5883157"/>
            <a:ext cx="4523813" cy="5775260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191" name="Table 1: Characteristics of sample population"/>
          <p:cNvGraphicFramePr/>
          <p:nvPr/>
        </p:nvGraphicFramePr>
        <p:xfrm>
          <a:off x="4927172" y="1540204"/>
          <a:ext cx="9821334" cy="508000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1" rtl="0">
                <a:tableStyleId>{EEE7283C-3CF3-47DC-8721-378D4A62B228}</a:tableStyleId>
              </a:tblPr>
              <a:tblGrid>
                <a:gridCol w="3173937"/>
                <a:gridCol w="1308100"/>
                <a:gridCol w="1308100"/>
                <a:gridCol w="1092200"/>
              </a:tblGrid>
              <a:tr h="279400">
                <a:tc gridSpan="4"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>
                          <a:sym typeface="Aptos"/>
                        </a:rPr>
                        <a:t>Table 1: Characteristics of sample population</a:t>
                      </a:r>
                    </a:p>
                  </a:txBody>
                  <a:tcPr marL="0" marR="0" marT="0" marB="0" anchor="t" anchorCtr="0" horzOverflow="overflow">
                    <a:lnL/>
                    <a:lnR/>
                    <a:lnT/>
                    <a:lnB w="12700">
                      <a:solidFill>
                        <a:srgbClr val="FFFFFF"/>
                      </a:solidFill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  <a:sym typeface="Aptos"/>
                        </a:rPr>
                        <a:t>
Characteristics</a:t>
                      </a:r>
                    </a:p>
                  </a:txBody>
                  <a:tcPr marL="0" marR="0" marT="0" marB="0" anchor="t" anchorCtr="0" horzOverflow="overflow"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FFFFFF"/>
                          </a:solidFill>
                          <a:sym typeface="Aptos"/>
                        </a:rPr>
                        <a:t>Weighted (N=19,200,774)
n</a:t>
                      </a:r>
                    </a:p>
                  </a:txBody>
                  <a:tcPr marL="0" marR="0" marT="0" marB="0" anchor="t" anchorCtr="0" horzOverflow="overflow"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FFFFFF"/>
                          </a:solidFill>
                          <a:sym typeface="Aptos"/>
                        </a:rPr>
                        <a:t>Weighted (N=19,200,774)
%</a:t>
                      </a:r>
                    </a:p>
                  </a:txBody>
                  <a:tcPr marL="0" marR="0" marT="0" marB="0" anchor="t" anchorCtr="0" horzOverflow="overflow"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FFFFFF"/>
                          </a:solidFill>
                          <a:sym typeface="Aptos"/>
                        </a:rPr>
                        <a:t>95% 
Confidence 
Interval </a:t>
                      </a:r>
                    </a:p>
                  </a:txBody>
                  <a:tcPr marL="0" marR="0" marT="0" marB="0" anchor="t" anchorCtr="0" horzOverflow="overflow"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chemeClr val="accent3"/>
                    </a:solidFill>
                  </a:tcPr>
                </a:tc>
              </a:tr>
              <a:tr h="591360">
                <a:tc>
                  <a:txBody>
                    <a:bodyPr/>
                    <a:lstStyle/>
                    <a:p>
                      <a:pPr algn="l">
                        <a:defRPr sz="1400">
                          <a:sym typeface="Aptos"/>
                        </a:defRPr>
                      </a:pPr>
                      <a:r>
                        <a:t>Sex</a:t>
                      </a:r>
                    </a:p>
                    <a:p>
                      <a:pPr>
                        <a:defRPr b="0" sz="1400">
                          <a:sym typeface="Aptos"/>
                        </a:defRPr>
                      </a:pPr>
                      <a:r>
                        <a:t>Male</a:t>
                      </a:r>
                    </a:p>
                    <a:p>
                      <a:pPr>
                        <a:defRPr b="0" sz="1400">
                          <a:sym typeface="Aptos"/>
                        </a:defRPr>
                      </a:pPr>
                      <a:r>
                        <a:t>Female</a:t>
                      </a:r>
                    </a:p>
                  </a:txBody>
                  <a:tcPr marL="0" marR="0" marT="0" marB="0" anchor="t" anchorCtr="0" horzOverflow="overflow">
                    <a:lnT w="38100">
                      <a:solidFill>
                        <a:srgbClr val="FFFFFF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z="14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
9,655,581
9,545,193</a:t>
                      </a:r>
                    </a:p>
                  </a:txBody>
                  <a:tcPr marL="0" marR="0" marT="0" marB="0" anchor="t" anchorCtr="0" horzOverflow="overflow">
                    <a:lnT w="38100">
                      <a:solidFill>
                        <a:srgbClr val="FFFFFF"/>
                      </a:solidFill>
                    </a:lnT>
                    <a:solidFill>
                      <a:srgbClr val="CBD4D1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z="14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
50.3%
49.7%</a:t>
                      </a:r>
                    </a:p>
                  </a:txBody>
                  <a:tcPr marL="0" marR="0" marT="0" marB="0" anchor="t" anchorCtr="0" horzOverflow="overflow">
                    <a:lnT w="38100">
                      <a:solidFill>
                        <a:srgbClr val="FFFFFF"/>
                      </a:solidFill>
                    </a:lnT>
                    <a:solidFill>
                      <a:srgbClr val="CBD4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ym typeface="Aptos"/>
                        </a:rPr>
                        <a:t>
(48.6, 52.0)
(48.0, 51.5)</a:t>
                      </a:r>
                    </a:p>
                  </a:txBody>
                  <a:tcPr marL="0" marR="0" marT="0" marB="0" anchor="t" anchorCtr="0" horzOverflow="overflow">
                    <a:lnT w="38100">
                      <a:solidFill>
                        <a:srgbClr val="FFFFFF"/>
                      </a:solidFill>
                    </a:lnT>
                    <a:solidFill>
                      <a:srgbClr val="CBD4D1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>
                        <a:defRPr sz="1400">
                          <a:sym typeface="Aptos"/>
                        </a:defRPr>
                      </a:pPr>
                      <a:r>
                        <a:t>Age</a:t>
                      </a:r>
                    </a:p>
                    <a:p>
                      <a:pPr>
                        <a:defRPr b="0" sz="1400">
                          <a:sym typeface="Aptos"/>
                        </a:defRPr>
                      </a:pPr>
                      <a:r>
                        <a:t>12-13</a:t>
                      </a:r>
                    </a:p>
                    <a:p>
                      <a:pPr>
                        <a:defRPr b="0" sz="1400">
                          <a:sym typeface="Aptos"/>
                        </a:defRPr>
                      </a:pPr>
                      <a:r>
                        <a:t>14-15</a:t>
                      </a:r>
                    </a:p>
                    <a:p>
                      <a:pPr>
                        <a:defRPr b="0" sz="1400">
                          <a:sym typeface="Aptos"/>
                        </a:defRPr>
                      </a:pPr>
                      <a:r>
                        <a:t>16-17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ym typeface="Aptos"/>
                        </a:defRPr>
                      </a:pPr>
                    </a:p>
                    <a:p>
                      <a:pPr algn="ctr" defTabSz="457200">
                        <a:defRPr sz="14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5,456,387</a:t>
                      </a:r>
                    </a:p>
                    <a:p>
                      <a:pPr algn="ctr" defTabSz="457200">
                        <a:defRPr sz="14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6,860,224</a:t>
                      </a:r>
                    </a:p>
                    <a:p>
                      <a:pPr algn="ctr" defTabSz="457200">
                        <a:defRPr sz="14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6,884,163</a:t>
                      </a:r>
                    </a:p>
                  </a:txBody>
                  <a:tcPr marL="0" marR="0" marT="0" marB="0" anchor="t" anchorCtr="0" horzOverflow="overflow">
                    <a:solidFill>
                      <a:srgbClr val="E7EB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ym typeface="Aptos"/>
                        </a:defRPr>
                      </a:pPr>
                    </a:p>
                    <a:p>
                      <a:pPr algn="ctr" defTabSz="457200">
                        <a:defRPr sz="14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28.4%</a:t>
                      </a:r>
                    </a:p>
                    <a:p>
                      <a:pPr algn="ctr" defTabSz="457200">
                        <a:defRPr sz="14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35.7%</a:t>
                      </a:r>
                    </a:p>
                    <a:p>
                      <a:pPr algn="ctr" defTabSz="457200">
                        <a:defRPr sz="14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35.9%</a:t>
                      </a:r>
                    </a:p>
                  </a:txBody>
                  <a:tcPr marL="0" marR="0" marT="0" marB="0" anchor="t" anchorCtr="0" horzOverflow="overflow">
                    <a:solidFill>
                      <a:srgbClr val="E7EB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ym typeface="Aptos"/>
                        </a:defRPr>
                      </a:pPr>
                    </a:p>
                    <a:p>
                      <a:pPr algn="ctr" defTabSz="457200">
                        <a:defRPr sz="14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(27.0, 29.9)</a:t>
                      </a:r>
                    </a:p>
                    <a:p>
                      <a:pPr algn="ctr" defTabSz="457200">
                        <a:defRPr sz="14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(33.9, 37.6)</a:t>
                      </a:r>
                    </a:p>
                    <a:p>
                      <a:pPr algn="ctr" defTabSz="457200">
                        <a:defRPr sz="14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(34.1, 37.6)</a:t>
                      </a:r>
                    </a:p>
                  </a:txBody>
                  <a:tcPr marL="0" marR="0" marT="0" marB="0" anchor="t" anchorCtr="0" horzOverflow="overflow">
                    <a:solidFill>
                      <a:srgbClr val="E7EBE9"/>
                    </a:solidFill>
                  </a:tcPr>
                </a:tc>
              </a:tr>
              <a:tr h="1435100">
                <a:tc>
                  <a:txBody>
                    <a:bodyPr/>
                    <a:lstStyle/>
                    <a:p>
                      <a:pPr algn="l">
                        <a:defRPr sz="1400">
                          <a:sym typeface="Aptos"/>
                        </a:defRPr>
                      </a:pPr>
                      <a:r>
                        <a:t>Race/Ethnicity</a:t>
                      </a:r>
                    </a:p>
                    <a:p>
                      <a:pPr defTabSz="457200">
                        <a:defRPr b="0" sz="1400">
                          <a:sym typeface="Aptos"/>
                        </a:defRPr>
                      </a:pPr>
                      <a:r>
                        <a:t>NonHisp White</a:t>
                      </a:r>
                    </a:p>
                    <a:p>
                      <a:pPr defTabSz="457200">
                        <a:defRPr b="0" sz="1400">
                          <a:sym typeface="Aptos"/>
                        </a:defRPr>
                      </a:pPr>
                      <a:r>
                        <a:t>NonHisp Black/Afr Am</a:t>
                      </a:r>
                    </a:p>
                    <a:p>
                      <a:pPr defTabSz="457200">
                        <a:defRPr b="0" sz="1400">
                          <a:sym typeface="Aptos"/>
                        </a:defRPr>
                      </a:pPr>
                      <a:r>
                        <a:t>NonHisp Native Am/AK Native</a:t>
                      </a:r>
                    </a:p>
                    <a:p>
                      <a:pPr defTabSz="457200">
                        <a:defRPr b="0" sz="1400">
                          <a:sym typeface="Aptos"/>
                        </a:defRPr>
                      </a:pPr>
                      <a:r>
                        <a:t>NonHisp Native HI/Other Pac Isl</a:t>
                      </a:r>
                    </a:p>
                    <a:p>
                      <a:pPr defTabSz="457200">
                        <a:defRPr b="0" sz="1400">
                          <a:sym typeface="Aptos"/>
                        </a:defRPr>
                      </a:pPr>
                      <a:r>
                        <a:t>NonHisp Asian</a:t>
                      </a:r>
                    </a:p>
                    <a:p>
                      <a:pPr defTabSz="457200">
                        <a:defRPr b="0" sz="1400">
                          <a:sym typeface="Aptos"/>
                        </a:defRPr>
                      </a:pPr>
                      <a:r>
                        <a:t>NonHisp more than one race</a:t>
                      </a:r>
                    </a:p>
                    <a:p>
                      <a:pPr defTabSz="457200">
                        <a:defRPr b="0" sz="1400">
                          <a:sym typeface="Aptos"/>
                        </a:defRPr>
                      </a:pPr>
                      <a:r>
                        <a:t>Hispanic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ym typeface="Aptos"/>
                        </a:defRPr>
                      </a:pPr>
                    </a:p>
                    <a:p>
                      <a:pPr algn="ctr" defTabSz="457200">
                        <a:defRPr sz="14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9,609,558</a:t>
                      </a:r>
                    </a:p>
                    <a:p>
                      <a:pPr algn="ctr" defTabSz="457200">
                        <a:defRPr sz="14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2,559,267</a:t>
                      </a:r>
                    </a:p>
                    <a:p>
                      <a:pPr algn="ctr" defTabSz="457200">
                        <a:defRPr sz="14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140,696</a:t>
                      </a:r>
                    </a:p>
                    <a:p>
                      <a:pPr algn="ctr" defTabSz="457200">
                        <a:defRPr sz="14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53,997</a:t>
                      </a:r>
                    </a:p>
                    <a:p>
                      <a:pPr algn="ctr" defTabSz="457200">
                        <a:defRPr sz="14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1,134,541</a:t>
                      </a:r>
                    </a:p>
                    <a:p>
                      <a:pPr algn="ctr" defTabSz="457200">
                        <a:defRPr sz="14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686,367</a:t>
                      </a:r>
                    </a:p>
                    <a:p>
                      <a:pPr algn="ctr" defTabSz="457200">
                        <a:defRPr sz="14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5,016,348</a:t>
                      </a:r>
                    </a:p>
                  </a:txBody>
                  <a:tcPr marL="0" marR="0" marT="0" marB="0" anchor="t" anchorCtr="0" horzOverflow="overflow">
                    <a:solidFill>
                      <a:srgbClr val="CBD4D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ym typeface="Aptos"/>
                        </a:defRPr>
                      </a:pPr>
                    </a:p>
                    <a:p>
                      <a:pPr algn="ctr" defTabSz="457200">
                        <a:defRPr sz="14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50.0%</a:t>
                      </a:r>
                    </a:p>
                    <a:p>
                      <a:pPr algn="ctr" defTabSz="457200">
                        <a:defRPr sz="14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13.3%</a:t>
                      </a:r>
                    </a:p>
                    <a:p>
                      <a:pPr algn="ctr" defTabSz="457200">
                        <a:defRPr sz="14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0.7%</a:t>
                      </a:r>
                    </a:p>
                    <a:p>
                      <a:pPr algn="ctr" defTabSz="457200">
                        <a:defRPr sz="14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0.3%</a:t>
                      </a:r>
                    </a:p>
                    <a:p>
                      <a:pPr algn="ctr" defTabSz="457200">
                        <a:defRPr sz="14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5.9%</a:t>
                      </a:r>
                    </a:p>
                    <a:p>
                      <a:pPr algn="ctr" defTabSz="457200">
                        <a:defRPr sz="14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3.6%</a:t>
                      </a:r>
                    </a:p>
                    <a:p>
                      <a:pPr algn="ctr" defTabSz="457200">
                        <a:defRPr sz="14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26.1%</a:t>
                      </a:r>
                    </a:p>
                  </a:txBody>
                  <a:tcPr marL="0" marR="0" marT="0" marB="0" anchor="t" anchorCtr="0" horzOverflow="overflow">
                    <a:solidFill>
                      <a:srgbClr val="CBD4D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ym typeface="Aptos"/>
                        </a:defRPr>
                      </a:pPr>
                    </a:p>
                    <a:p>
                      <a:pPr algn="ctr" defTabSz="457200">
                        <a:defRPr sz="14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(48.1, 52.0)</a:t>
                      </a:r>
                    </a:p>
                    <a:p>
                      <a:pPr algn="ctr" defTabSz="457200">
                        <a:defRPr sz="14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(12.1, 14.6)</a:t>
                      </a:r>
                    </a:p>
                    <a:p>
                      <a:pPr algn="ctr" defTabSz="457200">
                        <a:defRPr sz="14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(0.5, 1.0)</a:t>
                      </a:r>
                    </a:p>
                    <a:p>
                      <a:pPr algn="ctr" defTabSz="457200">
                        <a:defRPr sz="14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(0.1, 0.5)</a:t>
                      </a:r>
                    </a:p>
                    <a:p>
                      <a:pPr algn="ctr" defTabSz="457200">
                        <a:defRPr sz="14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(5.0, 6.8)</a:t>
                      </a:r>
                    </a:p>
                    <a:p>
                      <a:pPr algn="ctr" defTabSz="457200">
                        <a:defRPr sz="14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(3.0, 4.1)</a:t>
                      </a:r>
                    </a:p>
                    <a:p>
                      <a:pPr algn="ctr" defTabSz="457200">
                        <a:defRPr sz="14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(23.7, 28.5)</a:t>
                      </a:r>
                    </a:p>
                  </a:txBody>
                  <a:tcPr marL="0" marR="0" marT="0" marB="0" anchor="t" anchorCtr="0" horzOverflow="overflow">
                    <a:solidFill>
                      <a:srgbClr val="CBD4D1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>
                        <a:defRPr sz="1400">
                          <a:sym typeface="Aptos"/>
                        </a:defRPr>
                      </a:pPr>
                      <a:r>
                        <a:t>Poverty Level</a:t>
                      </a:r>
                    </a:p>
                    <a:p>
                      <a:pPr defTabSz="457200">
                        <a:defRPr b="0" sz="1400">
                          <a:sym typeface="Aptos"/>
                        </a:defRPr>
                      </a:pPr>
                      <a:r>
                        <a:t>Living in Poverty</a:t>
                      </a:r>
                    </a:p>
                    <a:p>
                      <a:pPr defTabSz="457200">
                        <a:defRPr b="0" sz="1400">
                          <a:sym typeface="Aptos"/>
                        </a:defRPr>
                      </a:pPr>
                      <a:r>
                        <a:t>Income Up to 2X Fed Pov Thresh</a:t>
                      </a:r>
                    </a:p>
                    <a:p>
                      <a:pPr defTabSz="457200">
                        <a:defRPr b="0" sz="1400">
                          <a:sym typeface="Aptos"/>
                        </a:defRPr>
                      </a:pPr>
                      <a:r>
                        <a:t>Income More Than 2X Fed Pov Thresh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ym typeface="Aptos"/>
                        </a:defRPr>
                      </a:pPr>
                    </a:p>
                    <a:p>
                      <a:pPr algn="ctr" defTabSz="457200">
                        <a:defRPr sz="14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3,960,665</a:t>
                      </a:r>
                    </a:p>
                    <a:p>
                      <a:pPr algn="ctr" defTabSz="457200">
                        <a:defRPr sz="14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3,847,436</a:t>
                      </a:r>
                    </a:p>
                    <a:p>
                      <a:pPr algn="ctr" defTabSz="457200">
                        <a:defRPr sz="14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11,392,672</a:t>
                      </a:r>
                    </a:p>
                  </a:txBody>
                  <a:tcPr marL="0" marR="0" marT="0" marB="0" anchor="t" anchorCtr="0" horzOverflow="overflow">
                    <a:solidFill>
                      <a:srgbClr val="E7EB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ym typeface="Aptos"/>
                        </a:defRPr>
                      </a:pPr>
                    </a:p>
                    <a:p>
                      <a:pPr algn="ctr" defTabSz="457200">
                        <a:defRPr sz="14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20.6%</a:t>
                      </a:r>
                    </a:p>
                    <a:p>
                      <a:pPr algn="ctr" defTabSz="457200">
                        <a:defRPr sz="14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20.0%</a:t>
                      </a:r>
                    </a:p>
                    <a:p>
                      <a:pPr algn="ctr" defTabSz="457200">
                        <a:defRPr sz="14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59.3%</a:t>
                      </a:r>
                    </a:p>
                  </a:txBody>
                  <a:tcPr marL="0" marR="0" marT="0" marB="0" anchor="t" anchorCtr="0" horzOverflow="overflow">
                    <a:solidFill>
                      <a:srgbClr val="E7EB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ym typeface="Aptos"/>
                        </a:defRPr>
                      </a:pPr>
                    </a:p>
                    <a:p>
                      <a:pPr algn="ctr" defTabSz="457200">
                        <a:defRPr sz="14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(19.1, 22.2)</a:t>
                      </a:r>
                    </a:p>
                    <a:p>
                      <a:pPr algn="ctr" defTabSz="457200">
                        <a:defRPr sz="14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(18.4, 21.6)</a:t>
                      </a:r>
                    </a:p>
                    <a:p>
                      <a:pPr algn="ctr" defTabSz="457200">
                        <a:defRPr sz="14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(57.3, 61.4)</a:t>
                      </a:r>
                    </a:p>
                  </a:txBody>
                  <a:tcPr marL="0" marR="0" marT="0" marB="0" anchor="t" anchorCtr="0" horzOverflow="overflow">
                    <a:solidFill>
                      <a:srgbClr val="E7EB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Descriptives</a:t>
            </a:r>
          </a:p>
        </p:txBody>
      </p:sp>
      <p:sp>
        <p:nvSpPr>
          <p:cNvPr id="194" name="Content Placeholder 2"/>
          <p:cNvSpPr txBox="1"/>
          <p:nvPr>
            <p:ph type="body" sz="quarter" idx="1"/>
          </p:nvPr>
        </p:nvSpPr>
        <p:spPr>
          <a:xfrm>
            <a:off x="838200" y="1825625"/>
            <a:ext cx="3044044" cy="43513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pPr/>
            <a:r>
              <a:t>Maybe we’ll do a visual on this slide instead of table</a:t>
            </a:r>
          </a:p>
        </p:txBody>
      </p:sp>
      <p:sp>
        <p:nvSpPr>
          <p:cNvPr id="195" name="Slide Number Placeholder 3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9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721185" y="-3289568"/>
            <a:ext cx="6373809" cy="3186905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197" name="Prevalence (%) of MDE and Drug Use in Analytic Sample"/>
          <p:cNvGraphicFramePr/>
          <p:nvPr/>
        </p:nvGraphicFramePr>
        <p:xfrm>
          <a:off x="4121866" y="1537493"/>
          <a:ext cx="7485097" cy="477520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Aim 1 - Any Drugs Ever Used</a:t>
            </a:r>
          </a:p>
        </p:txBody>
      </p:sp>
      <p:sp>
        <p:nvSpPr>
          <p:cNvPr id="200" name="Slide Number Placeholder 3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0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5366" y="1755975"/>
            <a:ext cx="7283806" cy="2416798"/>
          </a:xfrm>
          <a:prstGeom prst="rect">
            <a:avLst/>
          </a:prstGeom>
          <a:ln w="12700">
            <a:miter lim="400000"/>
          </a:ln>
        </p:spPr>
      </p:pic>
      <p:sp>
        <p:nvSpPr>
          <p:cNvPr id="202" name="Logistic regression model adjustments:…"/>
          <p:cNvSpPr txBox="1"/>
          <p:nvPr/>
        </p:nvSpPr>
        <p:spPr>
          <a:xfrm>
            <a:off x="8341682" y="2130940"/>
            <a:ext cx="3191701" cy="148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Logistic regression model adjustments: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1 - age group, sex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2 - race, current grade level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3 - arguments with parents</a:t>
            </a:r>
          </a:p>
        </p:txBody>
      </p:sp>
      <p:sp>
        <p:nvSpPr>
          <p:cNvPr id="203" name="Content Placeholder 2"/>
          <p:cNvSpPr txBox="1"/>
          <p:nvPr/>
        </p:nvSpPr>
        <p:spPr>
          <a:xfrm>
            <a:off x="515793" y="4482138"/>
            <a:ext cx="11063397" cy="1796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173736" indent="-173736" defTabSz="694944">
              <a:lnSpc>
                <a:spcPct val="90000"/>
              </a:lnSpc>
              <a:spcBef>
                <a:spcPts val="700"/>
              </a:spcBef>
              <a:buSzPct val="100000"/>
              <a:buFont typeface="Courier New"/>
              <a:buChar char="o"/>
              <a:defRPr sz="2128">
                <a:latin typeface="Lato"/>
                <a:ea typeface="Lato"/>
                <a:cs typeface="Lato"/>
                <a:sym typeface="Lato"/>
              </a:defRPr>
            </a:pPr>
            <a:r>
              <a:t> Crude indicates drug use is associated with almost 3x odds of a MDE. After adjustment, association attenuates but remains robust and statistically significant at almost 2.6x odds.</a:t>
            </a:r>
          </a:p>
          <a:p>
            <a:pPr marL="173736" indent="-173736" defTabSz="694944">
              <a:lnSpc>
                <a:spcPct val="90000"/>
              </a:lnSpc>
              <a:spcBef>
                <a:spcPts val="700"/>
              </a:spcBef>
              <a:buSzPct val="100000"/>
              <a:buFont typeface="Courier New"/>
              <a:buChar char="o"/>
              <a:defRPr sz="2128">
                <a:latin typeface="Lato"/>
                <a:ea typeface="Lato"/>
                <a:cs typeface="Lato"/>
                <a:sym typeface="Lato"/>
              </a:defRPr>
            </a:pPr>
            <a:r>
              <a:t>Suggests any drug use is a strong predictor of MDE in adolescents. </a:t>
            </a:r>
          </a:p>
          <a:p>
            <a:pPr marL="173736" indent="-173736" defTabSz="694944">
              <a:lnSpc>
                <a:spcPct val="90000"/>
              </a:lnSpc>
              <a:spcBef>
                <a:spcPts val="700"/>
              </a:spcBef>
              <a:buSzPct val="100000"/>
              <a:buFont typeface="Courier New"/>
              <a:buChar char="o"/>
              <a:defRPr sz="2128">
                <a:latin typeface="Lato"/>
                <a:ea typeface="Lato"/>
                <a:cs typeface="Lato"/>
                <a:sym typeface="Lato"/>
              </a:defRPr>
            </a:pPr>
            <a:r>
              <a:t>Biological factors provide considerable increase to model’s predictive power.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Aim 2a Model - “Soft” Drugs Ever Used</a:t>
            </a:r>
          </a:p>
        </p:txBody>
      </p:sp>
      <p:sp>
        <p:nvSpPr>
          <p:cNvPr id="206" name="Slide Number Placeholder 3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07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59178" y="1710729"/>
            <a:ext cx="7291110" cy="2411501"/>
          </a:xfrm>
          <a:prstGeom prst="rect">
            <a:avLst/>
          </a:prstGeom>
          <a:ln w="12700">
            <a:miter lim="400000"/>
          </a:ln>
        </p:spPr>
      </p:pic>
      <p:sp>
        <p:nvSpPr>
          <p:cNvPr id="208" name="Logistic regression model adjustments:…"/>
          <p:cNvSpPr txBox="1"/>
          <p:nvPr/>
        </p:nvSpPr>
        <p:spPr>
          <a:xfrm>
            <a:off x="8341682" y="2130940"/>
            <a:ext cx="3191700" cy="148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Logistic regression model adjustments: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1 - age group, sex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2 - race, current grade level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3 - arguments with parents</a:t>
            </a:r>
          </a:p>
        </p:txBody>
      </p:sp>
      <p:sp>
        <p:nvSpPr>
          <p:cNvPr id="209" name="Content Placeholder 2"/>
          <p:cNvSpPr txBox="1"/>
          <p:nvPr/>
        </p:nvSpPr>
        <p:spPr>
          <a:xfrm>
            <a:off x="515793" y="4482138"/>
            <a:ext cx="11063397" cy="1796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173736" indent="-173736" defTabSz="694944">
              <a:lnSpc>
                <a:spcPct val="90000"/>
              </a:lnSpc>
              <a:spcBef>
                <a:spcPts val="700"/>
              </a:spcBef>
              <a:buSzPct val="100000"/>
              <a:buFont typeface="Courier New"/>
              <a:buChar char="o"/>
              <a:defRPr sz="2128">
                <a:latin typeface="Lato"/>
                <a:ea typeface="Lato"/>
                <a:cs typeface="Lato"/>
                <a:sym typeface="Lato"/>
              </a:defRPr>
            </a:pPr>
            <a:r>
              <a:t> Crude indicates drug use is associated with almost 3x odds of a MDE. After adjustment for covariates, association attenuates but remains robust and statistically significant at 2.6x odds.</a:t>
            </a:r>
          </a:p>
          <a:p>
            <a:pPr marL="173736" indent="-173736" defTabSz="694944">
              <a:lnSpc>
                <a:spcPct val="90000"/>
              </a:lnSpc>
              <a:spcBef>
                <a:spcPts val="700"/>
              </a:spcBef>
              <a:buSzPct val="100000"/>
              <a:buFont typeface="Courier New"/>
              <a:buChar char="o"/>
              <a:defRPr sz="2128">
                <a:latin typeface="Lato"/>
                <a:ea typeface="Lato"/>
                <a:cs typeface="Lato"/>
                <a:sym typeface="Lato"/>
              </a:defRPr>
            </a:pPr>
            <a:r>
              <a:t>Suggests “soft” drug use is an independent predictor of MDE in adolescents. </a:t>
            </a:r>
          </a:p>
          <a:p>
            <a:pPr marL="173736" indent="-173736" defTabSz="694944">
              <a:lnSpc>
                <a:spcPct val="90000"/>
              </a:lnSpc>
              <a:spcBef>
                <a:spcPts val="700"/>
              </a:spcBef>
              <a:buSzPct val="100000"/>
              <a:buFont typeface="Courier New"/>
              <a:buChar char="o"/>
              <a:defRPr sz="2128">
                <a:latin typeface="Lato"/>
                <a:ea typeface="Lato"/>
                <a:cs typeface="Lato"/>
                <a:sym typeface="Lato"/>
              </a:defRPr>
            </a:pPr>
            <a:r>
              <a:t>Biological factors provide considerable increase to model’s predictive power.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96111">
              <a:defRPr sz="4312"/>
            </a:lvl1pPr>
          </a:lstStyle>
          <a:p>
            <a:pPr/>
            <a:r>
              <a:t>Aim 2b Model - “Hard” Drugs Ever Used</a:t>
            </a:r>
          </a:p>
        </p:txBody>
      </p:sp>
      <p:sp>
        <p:nvSpPr>
          <p:cNvPr id="212" name="Content Placeholder 2"/>
          <p:cNvSpPr txBox="1"/>
          <p:nvPr>
            <p:ph type="body" sz="half" idx="1"/>
          </p:nvPr>
        </p:nvSpPr>
        <p:spPr>
          <a:xfrm>
            <a:off x="515793" y="4482138"/>
            <a:ext cx="11063397" cy="1796921"/>
          </a:xfrm>
          <a:prstGeom prst="rect">
            <a:avLst/>
          </a:prstGeom>
        </p:spPr>
        <p:txBody>
          <a:bodyPr/>
          <a:lstStyle/>
          <a:p>
            <a:pPr marL="162305" indent="-162305" defTabSz="649223">
              <a:spcBef>
                <a:spcPts val="700"/>
              </a:spcBef>
              <a:defRPr sz="1987"/>
            </a:pPr>
            <a:r>
              <a:t> Crude indicates drug use is associated with &gt;2x odds of a MDE. After adjustment for covariates, association attenuates slightly but remains significant.</a:t>
            </a:r>
          </a:p>
          <a:p>
            <a:pPr marL="162305" indent="-162305" defTabSz="649223">
              <a:spcBef>
                <a:spcPts val="700"/>
              </a:spcBef>
              <a:defRPr sz="1987"/>
            </a:pPr>
            <a:r>
              <a:t>Suggesting “hard” drug use is a predictor of MDE in adolescents. </a:t>
            </a:r>
          </a:p>
          <a:p>
            <a:pPr marL="162305" indent="-162305" defTabSz="649223">
              <a:spcBef>
                <a:spcPts val="700"/>
              </a:spcBef>
              <a:defRPr sz="1987"/>
            </a:pPr>
            <a:r>
              <a:t>Biological factors provide considerable increase to model’s predictive power. </a:t>
            </a:r>
          </a:p>
          <a:p>
            <a:pPr marL="162305" indent="-162305" defTabSz="649223">
              <a:spcBef>
                <a:spcPts val="700"/>
              </a:spcBef>
              <a:defRPr sz="1987"/>
            </a:pPr>
            <a:r>
              <a:t>Sex not a significant confounder.</a:t>
            </a:r>
          </a:p>
        </p:txBody>
      </p:sp>
      <p:sp>
        <p:nvSpPr>
          <p:cNvPr id="213" name="Slide Number Placeholder 3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14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8096" y="1844006"/>
            <a:ext cx="7692065" cy="2512899"/>
          </a:xfrm>
          <a:prstGeom prst="rect">
            <a:avLst/>
          </a:prstGeom>
          <a:ln w="12700">
            <a:miter lim="400000"/>
          </a:ln>
        </p:spPr>
      </p:pic>
      <p:sp>
        <p:nvSpPr>
          <p:cNvPr id="215" name="Logistic regression model adjustments:…"/>
          <p:cNvSpPr txBox="1"/>
          <p:nvPr/>
        </p:nvSpPr>
        <p:spPr>
          <a:xfrm>
            <a:off x="8481498" y="2342193"/>
            <a:ext cx="3191701" cy="148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Logistic regression model adjustments: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1 - age group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2 - race, current grade level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3 - arguments with parents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itle 1"/>
          <p:cNvSpPr txBox="1"/>
          <p:nvPr>
            <p:ph type="title"/>
          </p:nvPr>
        </p:nvSpPr>
        <p:spPr>
          <a:xfrm>
            <a:off x="831850" y="1709738"/>
            <a:ext cx="10515600" cy="2852738"/>
          </a:xfrm>
          <a:prstGeom prst="rect">
            <a:avLst/>
          </a:prstGeom>
        </p:spPr>
        <p:txBody>
          <a:bodyPr/>
          <a:lstStyle/>
          <a:p>
            <a:pPr/>
            <a:r>
              <a:t>Discussion</a:t>
            </a:r>
          </a:p>
        </p:txBody>
      </p:sp>
      <p:sp>
        <p:nvSpPr>
          <p:cNvPr id="218" name="Text Placeholder 2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9" name="Slide Number Placeholder 3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Content Placeholder 5"/>
          <p:cNvSpPr txBox="1"/>
          <p:nvPr>
            <p:ph type="body" idx="1"/>
          </p:nvPr>
        </p:nvSpPr>
        <p:spPr>
          <a:xfrm>
            <a:off x="838200" y="807513"/>
            <a:ext cx="10515600" cy="5369450"/>
          </a:xfrm>
          <a:prstGeom prst="rect">
            <a:avLst/>
          </a:prstGeom>
        </p:spPr>
        <p:txBody>
          <a:bodyPr/>
          <a:lstStyle/>
          <a:p>
            <a:pPr marL="210311" indent="-210311" defTabSz="841247">
              <a:lnSpc>
                <a:spcPct val="100000"/>
              </a:lnSpc>
              <a:spcBef>
                <a:spcPts val="900"/>
              </a:spcBef>
              <a:defRPr sz="2760"/>
            </a:pPr>
            <a:r>
              <a:t>Across all three categories, a history of substance use is a strong, independent predictor of experiencing a MDE in adolescents. </a:t>
            </a:r>
          </a:p>
          <a:p>
            <a:pPr marL="210311" indent="-210311" defTabSz="841247">
              <a:lnSpc>
                <a:spcPct val="100000"/>
              </a:lnSpc>
              <a:spcBef>
                <a:spcPts val="900"/>
              </a:spcBef>
              <a:defRPr sz="2760"/>
            </a:pPr>
          </a:p>
          <a:p>
            <a:pPr marL="210311" indent="-210311" defTabSz="841247">
              <a:lnSpc>
                <a:spcPct val="100000"/>
              </a:lnSpc>
              <a:spcBef>
                <a:spcPts val="900"/>
              </a:spcBef>
              <a:defRPr sz="2760"/>
            </a:pPr>
            <a:r>
              <a:t>Persistent association seen even after adjustments for biological, social, and behavioral factors. </a:t>
            </a:r>
          </a:p>
          <a:p>
            <a:pPr marL="210311" indent="-210311" defTabSz="841247">
              <a:lnSpc>
                <a:spcPct val="100000"/>
              </a:lnSpc>
              <a:spcBef>
                <a:spcPts val="900"/>
              </a:spcBef>
              <a:defRPr sz="2760"/>
            </a:pPr>
          </a:p>
          <a:p>
            <a:pPr marL="210311" indent="-210311" defTabSz="841247">
              <a:lnSpc>
                <a:spcPct val="100000"/>
              </a:lnSpc>
              <a:spcBef>
                <a:spcPts val="900"/>
              </a:spcBef>
              <a:defRPr sz="2760"/>
            </a:pPr>
            <a:r>
              <a:t>Misconception of “soft” vs “hard” - strongest association with “soft” drug use.</a:t>
            </a:r>
          </a:p>
          <a:p>
            <a:pPr marL="210311" indent="-210311" defTabSz="841247">
              <a:lnSpc>
                <a:spcPct val="100000"/>
              </a:lnSpc>
              <a:spcBef>
                <a:spcPts val="900"/>
              </a:spcBef>
              <a:defRPr sz="2760"/>
            </a:pPr>
          </a:p>
          <a:p>
            <a:pPr marL="210311" indent="-210311" defTabSz="841247">
              <a:lnSpc>
                <a:spcPct val="100000"/>
              </a:lnSpc>
              <a:spcBef>
                <a:spcPts val="900"/>
              </a:spcBef>
              <a:defRPr sz="2760"/>
            </a:pPr>
            <a:r>
              <a:t>Models are better at identifying at risk youth once adjusted, especially for biological factors. </a:t>
            </a:r>
          </a:p>
        </p:txBody>
      </p:sp>
      <p:sp>
        <p:nvSpPr>
          <p:cNvPr id="222" name="Slide Number Placeholder 3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 Placeholder 4"/>
          <p:cNvSpPr txBox="1"/>
          <p:nvPr>
            <p:ph type="body" sz="quarter" idx="1"/>
          </p:nvPr>
        </p:nvSpPr>
        <p:spPr>
          <a:xfrm>
            <a:off x="763587" y="668337"/>
            <a:ext cx="5157789" cy="823913"/>
          </a:xfrm>
          <a:prstGeom prst="rect">
            <a:avLst/>
          </a:prstGeom>
          <a:ln w="28575">
            <a:solidFill>
              <a:schemeClr val="accent3"/>
            </a:solidFill>
            <a:round/>
          </a:ln>
        </p:spPr>
        <p:txBody>
          <a:bodyPr anchor="ctr"/>
          <a:lstStyle>
            <a:lvl1pPr algn="ctr" defTabSz="868680">
              <a:spcBef>
                <a:spcPts val="900"/>
              </a:spcBef>
              <a:defRPr sz="4560"/>
            </a:lvl1pPr>
          </a:lstStyle>
          <a:p>
            <a:pPr/>
            <a:r>
              <a:t>Strengths</a:t>
            </a:r>
          </a:p>
        </p:txBody>
      </p:sp>
      <p:sp>
        <p:nvSpPr>
          <p:cNvPr id="225" name="Content Placeholder 5"/>
          <p:cNvSpPr txBox="1"/>
          <p:nvPr/>
        </p:nvSpPr>
        <p:spPr>
          <a:xfrm>
            <a:off x="809307" y="1746912"/>
            <a:ext cx="5066348" cy="44427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Courier New"/>
              <a:buChar char="o"/>
              <a:defRPr sz="2800">
                <a:latin typeface="Lato"/>
                <a:ea typeface="Lato"/>
                <a:cs typeface="Lato"/>
                <a:sym typeface="Lato"/>
              </a:defRPr>
            </a:pPr>
            <a:r>
              <a:t>Use of NSDUH data provides national representation as a large-scale dataset.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Courier New"/>
              <a:buChar char="o"/>
              <a:defRPr sz="2800">
                <a:latin typeface="Lato"/>
                <a:ea typeface="Lato"/>
                <a:cs typeface="Lato"/>
                <a:sym typeface="Lato"/>
              </a:defRPr>
            </a:pPr>
            <a:r>
              <a:t>Statistical weights allows survey to capture a broad population of youth. </a:t>
            </a:r>
          </a:p>
        </p:txBody>
      </p:sp>
      <p:sp>
        <p:nvSpPr>
          <p:cNvPr id="226" name="Text Placeholder 6"/>
          <p:cNvSpPr/>
          <p:nvPr>
            <p:ph type="body" idx="21"/>
          </p:nvPr>
        </p:nvSpPr>
        <p:spPr>
          <a:xfrm>
            <a:off x="6096000" y="668337"/>
            <a:ext cx="5183188" cy="823913"/>
          </a:xfrm>
          <a:prstGeom prst="rect">
            <a:avLst/>
          </a:prstGeom>
          <a:ln w="28575">
            <a:solidFill>
              <a:schemeClr val="accent3"/>
            </a:solidFill>
            <a:round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anchor="ctr"/>
          <a:lstStyle>
            <a:lvl1pPr marL="0" indent="0" algn="ctr" defTabSz="868680">
              <a:spcBef>
                <a:spcPts val="900"/>
              </a:spcBef>
              <a:buSzTx/>
              <a:buFontTx/>
              <a:buNone/>
              <a:defRPr b="1" sz="4560"/>
            </a:lvl1pPr>
          </a:lstStyle>
          <a:p>
            <a:pPr/>
            <a:r>
              <a:t>Limitations</a:t>
            </a:r>
          </a:p>
        </p:txBody>
      </p:sp>
      <p:sp>
        <p:nvSpPr>
          <p:cNvPr id="227" name="Content Placeholder 7"/>
          <p:cNvSpPr txBox="1"/>
          <p:nvPr/>
        </p:nvSpPr>
        <p:spPr>
          <a:xfrm>
            <a:off x="6141720" y="1746912"/>
            <a:ext cx="5091748" cy="44427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Courier New"/>
              <a:buChar char="o"/>
              <a:defRPr sz="2800">
                <a:latin typeface="Lato"/>
                <a:ea typeface="Lato"/>
                <a:cs typeface="Lato"/>
                <a:sym typeface="Lato"/>
              </a:defRPr>
            </a:pPr>
            <a:r>
              <a:t>Cross-sectional design of the NSDUH limits inference of causality.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Courier New"/>
              <a:buChar char="o"/>
              <a:defRPr sz="2800">
                <a:latin typeface="Lato"/>
                <a:ea typeface="Lato"/>
                <a:cs typeface="Lato"/>
                <a:sym typeface="Lato"/>
              </a:defRPr>
            </a:pPr>
            <a:r>
              <a:t>Survey relies on self-reported data, which introduces biases.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Courier New"/>
              <a:buChar char="o"/>
              <a:defRPr sz="2800">
                <a:latin typeface="Lato"/>
                <a:ea typeface="Lato"/>
                <a:cs typeface="Lato"/>
                <a:sym typeface="Lato"/>
              </a:defRPr>
            </a:pPr>
            <a:r>
              <a:t>Absence of some topics in dataset.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Courier New"/>
              <a:buChar char="o"/>
              <a:defRPr sz="2800">
                <a:latin typeface="Lato"/>
                <a:ea typeface="Lato"/>
                <a:cs typeface="Lato"/>
                <a:sym typeface="Lato"/>
              </a:defRPr>
            </a:pPr>
            <a:r>
              <a:t>Operational definitions of “soft” and “hard” drugs.</a:t>
            </a:r>
          </a:p>
        </p:txBody>
      </p:sp>
      <p:sp>
        <p:nvSpPr>
          <p:cNvPr id="228" name="Slide Number Placeholder 3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itle 1"/>
          <p:cNvSpPr txBox="1"/>
          <p:nvPr>
            <p:ph type="title"/>
          </p:nvPr>
        </p:nvSpPr>
        <p:spPr>
          <a:xfrm>
            <a:off x="831850" y="1709738"/>
            <a:ext cx="10515600" cy="2852738"/>
          </a:xfrm>
          <a:prstGeom prst="rect">
            <a:avLst/>
          </a:prstGeom>
        </p:spPr>
        <p:txBody>
          <a:bodyPr/>
          <a:lstStyle/>
          <a:p>
            <a:pPr/>
            <a:r>
              <a:t>Conclusions</a:t>
            </a:r>
          </a:p>
        </p:txBody>
      </p:sp>
      <p:sp>
        <p:nvSpPr>
          <p:cNvPr id="231" name="Text Placeholder 2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2" name="Slide Number Placeholder 3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Content Placeholder 5"/>
          <p:cNvSpPr txBox="1"/>
          <p:nvPr>
            <p:ph type="body" idx="1"/>
          </p:nvPr>
        </p:nvSpPr>
        <p:spPr>
          <a:xfrm>
            <a:off x="838200" y="1253331"/>
            <a:ext cx="10515600" cy="4351338"/>
          </a:xfrm>
          <a:prstGeom prst="rect">
            <a:avLst/>
          </a:prstGeom>
        </p:spPr>
        <p:txBody>
          <a:bodyPr/>
          <a:lstStyle/>
          <a:p>
            <a:pPr marL="0" indent="0" algn="ctr">
              <a:buSzTx/>
              <a:buNone/>
              <a:defRPr b="1"/>
            </a:pPr>
            <a:r>
              <a:t>Substance use, regardless of the type of drug, is a resilient and independent marker for adolescent depression. </a:t>
            </a:r>
          </a:p>
          <a:p>
            <a:pPr marL="0" indent="0" algn="ctr">
              <a:buSzTx/>
              <a:buNone/>
              <a:defRPr b="1"/>
            </a:pPr>
          </a:p>
          <a:p>
            <a:pPr marL="0" indent="0" algn="ctr">
              <a:buSzTx/>
              <a:buNone/>
            </a:pPr>
            <a:r>
              <a:t>While biological factors are the strongest contributors to the model’s overall predictive accuracy, the consistent 2-3x risk across all drug categories highlights a critical need for integrated mental health and substance use screening in adolescent populations. </a:t>
            </a:r>
          </a:p>
        </p:txBody>
      </p:sp>
      <p:sp>
        <p:nvSpPr>
          <p:cNvPr id="235" name="Slide Number Placeholder 3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Content Placeholder 5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numCol="2" spcCol="525780"/>
          <a:lstStyle/>
          <a:p>
            <a:pPr/>
            <a:r>
              <a:t>Universal vs Targeted Screening</a:t>
            </a:r>
          </a:p>
          <a:p>
            <a:pPr/>
            <a:r>
              <a:t>Integrated Treatment Models</a:t>
            </a:r>
          </a:p>
          <a:p>
            <a:pPr/>
            <a:r>
              <a:t>Biological Vulnerability </a:t>
            </a:r>
          </a:p>
          <a:p>
            <a:pPr/>
          </a:p>
          <a:p>
            <a:pPr/>
          </a:p>
          <a:p>
            <a:pPr/>
          </a:p>
          <a:p>
            <a:pPr/>
            <a:r>
              <a:t>Directional and Longitudinal Analysis</a:t>
            </a:r>
          </a:p>
          <a:p>
            <a:pPr/>
            <a:r>
              <a:t>Mediation and Moderation Analysis</a:t>
            </a:r>
          </a:p>
          <a:p>
            <a:pPr/>
            <a:r>
              <a:t>Substance Specificity</a:t>
            </a:r>
          </a:p>
          <a:p>
            <a:pPr/>
            <a:r>
              <a:t>Policy Impacts and Advocacy</a:t>
            </a:r>
          </a:p>
        </p:txBody>
      </p:sp>
      <p:sp>
        <p:nvSpPr>
          <p:cNvPr id="238" name="Slide Number Placeholder 3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39" name="Text Placeholder 6"/>
          <p:cNvSpPr/>
          <p:nvPr/>
        </p:nvSpPr>
        <p:spPr>
          <a:xfrm>
            <a:off x="6096000" y="668337"/>
            <a:ext cx="5183188" cy="823913"/>
          </a:xfrm>
          <a:prstGeom prst="rect">
            <a:avLst/>
          </a:prstGeom>
          <a:ln w="28575">
            <a:solidFill>
              <a:schemeClr val="accent3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 defTabSz="868680">
              <a:lnSpc>
                <a:spcPct val="90000"/>
              </a:lnSpc>
              <a:spcBef>
                <a:spcPts val="900"/>
              </a:spcBef>
              <a:defRPr b="1" sz="4560"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Future Work</a:t>
            </a:r>
          </a:p>
        </p:txBody>
      </p:sp>
      <p:sp>
        <p:nvSpPr>
          <p:cNvPr id="240" name="Text Placeholder 4"/>
          <p:cNvSpPr txBox="1"/>
          <p:nvPr/>
        </p:nvSpPr>
        <p:spPr>
          <a:xfrm>
            <a:off x="763587" y="668337"/>
            <a:ext cx="5157789" cy="823913"/>
          </a:xfrm>
          <a:prstGeom prst="rect">
            <a:avLst/>
          </a:prstGeom>
          <a:ln w="28575">
            <a:solidFill>
              <a:schemeClr val="accent3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 defTabSz="868680">
              <a:lnSpc>
                <a:spcPct val="90000"/>
              </a:lnSpc>
              <a:spcBef>
                <a:spcPts val="900"/>
              </a:spcBef>
              <a:defRPr b="1" sz="4560"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Implications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itle 4"/>
          <p:cNvSpPr txBox="1"/>
          <p:nvPr>
            <p:ph type="title"/>
          </p:nvPr>
        </p:nvSpPr>
        <p:spPr>
          <a:xfrm>
            <a:off x="838200" y="4861855"/>
            <a:ext cx="10515600" cy="904876"/>
          </a:xfrm>
          <a:prstGeom prst="rect">
            <a:avLst/>
          </a:prstGeom>
        </p:spPr>
        <p:txBody>
          <a:bodyPr/>
          <a:lstStyle>
            <a:lvl1pPr algn="ctr" defTabSz="905255">
              <a:defRPr sz="5346"/>
            </a:lvl1pPr>
          </a:lstStyle>
          <a:p>
            <a:pPr/>
            <a:r>
              <a:t>Thank you!</a:t>
            </a:r>
          </a:p>
        </p:txBody>
      </p:sp>
      <p:sp>
        <p:nvSpPr>
          <p:cNvPr id="243" name="Slide Number Placeholder 3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44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86892" y="1091268"/>
            <a:ext cx="4418216" cy="37283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References</a:t>
            </a:r>
          </a:p>
        </p:txBody>
      </p:sp>
      <p:sp>
        <p:nvSpPr>
          <p:cNvPr id="247" name="Content Placeholder 2"/>
          <p:cNvSpPr txBox="1"/>
          <p:nvPr>
            <p:ph type="body" idx="1"/>
          </p:nvPr>
        </p:nvSpPr>
        <p:spPr>
          <a:xfrm>
            <a:off x="838199" y="1769698"/>
            <a:ext cx="10515601" cy="4351339"/>
          </a:xfrm>
          <a:prstGeom prst="rect">
            <a:avLst/>
          </a:prstGeom>
        </p:spPr>
        <p:txBody>
          <a:bodyPr/>
          <a:lstStyle/>
          <a:p>
            <a:pPr marL="226313" indent="-226313" defTabSz="452627">
              <a:lnSpc>
                <a:spcPct val="100000"/>
              </a:lnSpc>
              <a:spcBef>
                <a:spcPts val="0"/>
              </a:spcBef>
              <a:buFontTx/>
              <a:buAutoNum type="arabicPeriod" startAt="1"/>
              <a:defRPr sz="1979"/>
            </a:pPr>
            <a:r>
              <a:t>Simon, K. M., Levy, S. J., &amp; Bukstein, O. G. (2022, May 24). </a:t>
            </a:r>
            <a:r>
              <a:rPr i="1"/>
              <a:t>Adolescent Substance Use Disorders - PMC</a:t>
            </a:r>
            <a:r>
              <a:t>. National Library of Medicine. Retrieved November 30, 2025, from </a:t>
            </a:r>
            <a:r>
              <a:rPr u="sng">
                <a:solidFill>
                  <a:srgbClr val="00594F"/>
                </a:solidFill>
                <a:uFill>
                  <a:solidFill>
                    <a:srgbClr val="00594F"/>
                  </a:solidFill>
                </a:uFill>
                <a:hlinkClick r:id="rId2" invalidUrl="" action="" tgtFrame="" tooltip="" history="1" highlightClick="0" endSnd="0"/>
              </a:rPr>
              <a:t>https://pmc.ncbi.nlm.nih.gov/articles/PMC11003516/#R6</a:t>
            </a:r>
          </a:p>
          <a:p>
            <a:pPr marL="226313" indent="-226313" defTabSz="452627">
              <a:lnSpc>
                <a:spcPct val="100000"/>
              </a:lnSpc>
              <a:spcBef>
                <a:spcPts val="0"/>
              </a:spcBef>
              <a:buFontTx/>
              <a:buAutoNum type="arabicPeriod" startAt="1"/>
              <a:defRPr sz="1979"/>
            </a:pPr>
            <a:r>
              <a:t>The Partnership. (2011, May). </a:t>
            </a:r>
            <a:r>
              <a:rPr i="1"/>
              <a:t>Adolescent Substance Use: America’s #1 Public Health Problem</a:t>
            </a:r>
            <a:r>
              <a:t>. Partnership to End Addiction. </a:t>
            </a:r>
            <a:r>
              <a:rPr u="sng">
                <a:solidFill>
                  <a:srgbClr val="00594F"/>
                </a:solidFill>
                <a:uFill>
                  <a:solidFill>
                    <a:srgbClr val="00594F"/>
                  </a:solidFill>
                </a:uFill>
                <a:hlinkClick r:id="rId3" invalidUrl="" action="" tgtFrame="" tooltip="" history="1" highlightClick="0" endSnd="0"/>
              </a:rPr>
              <a:t>https://drugfree.org/reports/adolescent-substance-use-americas-1-public-health-problem</a:t>
            </a:r>
          </a:p>
          <a:p>
            <a:pPr marL="226313" indent="-226313" defTabSz="452627">
              <a:lnSpc>
                <a:spcPct val="100000"/>
              </a:lnSpc>
              <a:spcBef>
                <a:spcPts val="0"/>
              </a:spcBef>
              <a:buFontTx/>
              <a:buAutoNum type="arabicPeriod" startAt="1"/>
              <a:defRPr sz="1979"/>
            </a:pPr>
            <a:r>
              <a:t>Substance Abuse and Mental Health Services Administration. (2024, July). </a:t>
            </a:r>
            <a:r>
              <a:rPr i="1"/>
              <a:t>Key Substance Use and Mental Health Indicators in the United States: Results from the 2023 National Survey on Drug Use and Health</a:t>
            </a:r>
            <a:r>
              <a:t>. SAMHSA. Retrieved November 30, 2025, from </a:t>
            </a:r>
            <a:r>
              <a:rPr u="sng">
                <a:solidFill>
                  <a:srgbClr val="00594F"/>
                </a:solidFill>
                <a:uFill>
                  <a:solidFill>
                    <a:srgbClr val="00594F"/>
                  </a:solidFill>
                </a:uFill>
                <a:hlinkClick r:id="rId4" invalidUrl="" action="" tgtFrame="" tooltip="" history="1" highlightClick="0" endSnd="0"/>
              </a:rPr>
              <a:t>https://www.samhsa.gov/data/sites/default/files/reports/rpt47095/National%20Report/National%20Report/2023-nsduh-annual-national.pdf</a:t>
            </a:r>
          </a:p>
          <a:p>
            <a:pPr marL="226313" indent="-226313" defTabSz="452627">
              <a:lnSpc>
                <a:spcPct val="100000"/>
              </a:lnSpc>
              <a:spcBef>
                <a:spcPts val="0"/>
              </a:spcBef>
              <a:buFontTx/>
              <a:buAutoNum type="arabicPeriod" startAt="1"/>
              <a:defRPr sz="1979"/>
            </a:pPr>
            <a:r>
              <a:t>Substance Abuse and Mental Health Services Administration. Highlights for the 2023 National Survey on Drug Use and Health. SAMHSA; 2024. </a:t>
            </a:r>
            <a:r>
              <a:rPr u="sng">
                <a:solidFill>
                  <a:srgbClr val="00594F"/>
                </a:solidFill>
                <a:uFill>
                  <a:solidFill>
                    <a:srgbClr val="00594F"/>
                  </a:solidFill>
                </a:uFill>
                <a:hlinkClick r:id="rId5" invalidUrl="" action="" tgtFrame="" tooltip="" history="1" highlightClick="0" endSnd="0"/>
              </a:rPr>
              <a:t>https://www.samhsa.gov/data/sites/default/files/NSDUH%202023%20Annual%20Release/2023-nsduh-main-highlights.pdf</a:t>
            </a:r>
          </a:p>
        </p:txBody>
      </p:sp>
      <p:sp>
        <p:nvSpPr>
          <p:cNvPr id="248" name="Slide Number Placeholder 3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Title 4"/>
          <p:cNvSpPr txBox="1"/>
          <p:nvPr>
            <p:ph type="title"/>
          </p:nvPr>
        </p:nvSpPr>
        <p:spPr>
          <a:xfrm>
            <a:off x="831850" y="1709738"/>
            <a:ext cx="10515600" cy="28527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Supplemental Slides</a:t>
            </a:r>
          </a:p>
        </p:txBody>
      </p:sp>
      <p:sp>
        <p:nvSpPr>
          <p:cNvPr id="251" name="Text Placeholder 5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2" name="Slide Number Placeholder 3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Keele Prep – what might you be asked</a:t>
            </a:r>
          </a:p>
        </p:txBody>
      </p:sp>
      <p:sp>
        <p:nvSpPr>
          <p:cNvPr id="255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 What is multistage complex sampling? </a:t>
            </a:r>
          </a:p>
          <a:p>
            <a:pPr/>
            <a:r>
              <a:t> How were confounding variables and models selected?</a:t>
            </a:r>
          </a:p>
          <a:p>
            <a:pPr lvl="1" marL="685800" indent="-228600">
              <a:spcBef>
                <a:spcPts val="500"/>
              </a:spcBef>
              <a:defRPr sz="2400"/>
            </a:pPr>
            <a:r>
              <a:t>Candidate confounders – literature</a:t>
            </a:r>
          </a:p>
          <a:p>
            <a:pPr lvl="1" marL="685800" indent="-228600">
              <a:spcBef>
                <a:spcPts val="500"/>
              </a:spcBef>
              <a:defRPr sz="2400"/>
            </a:pPr>
            <a:r>
              <a:t>Confounders – chi square stats check</a:t>
            </a:r>
          </a:p>
          <a:p>
            <a:pPr lvl="1" marL="685800" indent="-228600">
              <a:spcBef>
                <a:spcPts val="500"/>
              </a:spcBef>
              <a:defRPr sz="2400"/>
            </a:pPr>
            <a:r>
              <a:t>Model selection: You will need to be able to explain the time-oriented epoch strategy. </a:t>
            </a:r>
          </a:p>
          <a:p>
            <a:pPr/>
            <a:r>
              <a:t> Why hard vs soft drugs?</a:t>
            </a:r>
          </a:p>
          <a:p>
            <a:pPr/>
            <a:r>
              <a:t> Public health implications</a:t>
            </a:r>
          </a:p>
        </p:txBody>
      </p:sp>
      <p:sp>
        <p:nvSpPr>
          <p:cNvPr id="256" name="Slide Number Placeholder 3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2F3E46"/>
      </a:accent1>
      <a:accent2>
        <a:srgbClr val="5F9EA0"/>
      </a:accent2>
      <a:accent3>
        <a:srgbClr val="1B6F5C"/>
      </a:accent3>
      <a:accent4>
        <a:srgbClr val="C06C83"/>
      </a:accent4>
      <a:accent5>
        <a:srgbClr val="E9C369"/>
      </a:accent5>
      <a:accent6>
        <a:srgbClr val="A8C3B0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2F3E46"/>
      </a:accent1>
      <a:accent2>
        <a:srgbClr val="5F9EA0"/>
      </a:accent2>
      <a:accent3>
        <a:srgbClr val="1B6F5C"/>
      </a:accent3>
      <a:accent4>
        <a:srgbClr val="C06C83"/>
      </a:accent4>
      <a:accent5>
        <a:srgbClr val="E9C369"/>
      </a:accent5>
      <a:accent6>
        <a:srgbClr val="A8C3B0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