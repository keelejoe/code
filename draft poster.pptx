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media/image1.jpeg" ContentType="image/jpeg"/>
  <Override PartName="/ppt/slideLayouts/slideLayout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media/image2.jpeg" ContentType="image/jpeg"/>
  <Override PartName="/ppt/charts/chart2.xml" ContentType="application/vnd.openxmlformats-officedocument.drawingml.chart+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Lst>
  <p:sldSz cx="43891200" cy="3291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Lato Medium"/>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Lato Medium"/>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Lato Medium"/>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Lato Medium"/>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Lato Medium"/>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Lato Medium"/>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Lato Medium"/>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Lato Medium"/>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Lato Medium"/>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FCE"/>
          </a:solidFill>
        </a:fill>
      </a:tcStyle>
    </a:wholeTbl>
    <a:band2H>
      <a:tcTxStyle b="def" i="def"/>
      <a:tcStyle>
        <a:tcBdr/>
        <a:fill>
          <a:solidFill>
            <a:srgbClr val="E6E9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EFCA"/>
          </a:solidFill>
        </a:fill>
      </a:tcStyle>
    </a:wholeTbl>
    <a:band2H>
      <a:tcTxStyle b="def" i="def"/>
      <a:tcStyle>
        <a:tcBdr/>
        <a:fill>
          <a:solidFill>
            <a:srgbClr val="EEF7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5DC"/>
          </a:solidFill>
        </a:fill>
      </a:tcStyle>
    </a:wholeTbl>
    <a:band2H>
      <a:tcTxStyle b="def" i="def"/>
      <a:tcStyle>
        <a:tcBdr/>
        <a:fill>
          <a:solidFill>
            <a:srgbClr val="FFFAEE"/>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s>

</file>

<file path=ppt/charts/_rels/chart1.xml.rels><?xml version="1.0" encoding="UTF-8"?>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1"/>
  <c:roundedCorners val="0"/>
  <c:chart>
    <c:title>
      <c:tx>
        <c:rich>
          <a:bodyPr rot="0"/>
          <a:lstStyle/>
          <a:p>
            <a:pPr>
              <a:defRPr b="1" i="0" strike="noStrike" sz="1800" u="none">
                <a:solidFill>
                  <a:srgbClr val="595959"/>
                </a:solidFill>
                <a:latin typeface="Lato Medium"/>
              </a:defRPr>
            </a:pPr>
            <a:r>
              <a:rPr b="1" i="0" strike="noStrike" sz="1800" u="none">
                <a:solidFill>
                  <a:srgbClr val="595959"/>
                </a:solidFill>
                <a:latin typeface="Lato Medium"/>
              </a:rPr>
              <a:t>Example chart</a:t>
            </a:r>
          </a:p>
        </c:rich>
      </c:tx>
      <c:layout>
        <c:manualLayout>
          <c:xMode val="edge"/>
          <c:yMode val="edge"/>
          <c:x val="0.377218"/>
          <c:y val="0"/>
          <c:w val="0.245564"/>
          <c:h val="0.0962708"/>
        </c:manualLayout>
      </c:layout>
      <c:overlay val="1"/>
      <c:spPr>
        <a:noFill/>
        <a:effectLst/>
      </c:spPr>
    </c:title>
    <c:autoTitleDeleted val="1"/>
    <c:plotArea>
      <c:layout>
        <c:manualLayout>
          <c:layoutTarget val="inner"/>
          <c:xMode val="edge"/>
          <c:yMode val="edge"/>
          <c:x val="0.065672"/>
          <c:y val="0.0962708"/>
          <c:w val="0.929328"/>
          <c:h val="0.763602"/>
        </c:manualLayout>
      </c:layout>
      <c:barChart>
        <c:barDir val="col"/>
        <c:grouping val="clustered"/>
        <c:varyColors val="0"/>
        <c:ser>
          <c:idx val="0"/>
          <c:order val="0"/>
          <c:tx>
            <c:v>Sales</c:v>
          </c:tx>
          <c:spPr>
            <a:solidFill>
              <a:schemeClr val="accent1"/>
            </a:solidFill>
            <a:ln w="19050" cap="flat">
              <a:solidFill>
                <a:srgbClr val="FFFFFF"/>
              </a:solidFill>
              <a:prstDash val="solid"/>
              <a:round/>
            </a:ln>
            <a:effectLst/>
          </c:spPr>
          <c:invertIfNegative val="0"/>
          <c:dPt>
            <c:idx val="0"/>
            <c:spPr>
              <a:solidFill>
                <a:schemeClr val="accent1"/>
              </a:solidFill>
              <a:ln w="19050" cap="flat">
                <a:solidFill>
                  <a:srgbClr val="FFFFFF"/>
                </a:solidFill>
                <a:prstDash val="solid"/>
                <a:round/>
              </a:ln>
              <a:effectLst/>
            </c:spPr>
          </c:dPt>
          <c:dPt>
            <c:idx val="1"/>
            <c:spPr>
              <a:solidFill>
                <a:schemeClr val="accent1"/>
              </a:solidFill>
              <a:ln w="19050" cap="flat">
                <a:solidFill>
                  <a:srgbClr val="FFFFFF"/>
                </a:solidFill>
                <a:prstDash val="solid"/>
                <a:round/>
              </a:ln>
              <a:effectLst/>
            </c:spPr>
          </c:dPt>
          <c:dPt>
            <c:idx val="2"/>
            <c:spPr>
              <a:solidFill>
                <a:schemeClr val="accent1"/>
              </a:solidFill>
              <a:ln w="19050" cap="flat">
                <a:solidFill>
                  <a:srgbClr val="FFFFFF"/>
                </a:solidFill>
                <a:prstDash val="solid"/>
                <a:round/>
              </a:ln>
              <a:effectLst/>
            </c:spPr>
          </c:dPt>
          <c:dPt>
            <c:idx val="3"/>
            <c:spPr>
              <a:solidFill>
                <a:schemeClr val="accent1"/>
              </a:solidFill>
              <a:ln w="19050" cap="flat">
                <a:solidFill>
                  <a:srgbClr val="FFFFFF"/>
                </a:solidFill>
                <a:prstDash val="solid"/>
                <a:round/>
              </a:ln>
              <a:effectLst/>
            </c:spPr>
          </c:dPt>
          <c:dLbls>
            <c:dLbl>
              <c:idx val="0"/>
              <c:numFmt formatCode="0.##" sourceLinked="0"/>
              <c:txPr>
                <a:bodyPr/>
                <a:lstStyle/>
                <a:p>
                  <a:pPr>
                    <a:defRPr b="0" i="0" strike="noStrike" sz="1000" u="none">
                      <a:solidFill>
                        <a:srgbClr val="000000"/>
                      </a:solidFill>
                      <a:latin typeface="Lato Medium"/>
                    </a:defRPr>
                  </a:pPr>
                </a:p>
              </c:txPr>
              <c:dLblPos val="outEnd"/>
              <c:showLegendKey val="0"/>
              <c:showVal val="0"/>
              <c:showCatName val="0"/>
              <c:showSerName val="0"/>
              <c:showPercent val="0"/>
              <c:showBubbleSize val="0"/>
            </c:dLbl>
            <c:dLbl>
              <c:idx val="1"/>
              <c:numFmt formatCode="0.#" sourceLinked="0"/>
              <c:txPr>
                <a:bodyPr/>
                <a:lstStyle/>
                <a:p>
                  <a:pPr>
                    <a:defRPr b="0" i="0" strike="noStrike" sz="1000" u="none">
                      <a:solidFill>
                        <a:srgbClr val="000000"/>
                      </a:solidFill>
                      <a:latin typeface="Lato Medium"/>
                    </a:defRPr>
                  </a:pPr>
                </a:p>
              </c:txPr>
              <c:dLblPos val="outEnd"/>
              <c:showLegendKey val="0"/>
              <c:showVal val="0"/>
              <c:showCatName val="0"/>
              <c:showSerName val="0"/>
              <c:showPercent val="0"/>
              <c:showBubbleSize val="0"/>
            </c:dLbl>
            <c:dLbl>
              <c:idx val="2"/>
              <c:numFmt formatCode="0.#" sourceLinked="0"/>
              <c:txPr>
                <a:bodyPr/>
                <a:lstStyle/>
                <a:p>
                  <a:pPr>
                    <a:defRPr b="0" i="0" strike="noStrike" sz="1000" u="none">
                      <a:solidFill>
                        <a:srgbClr val="000000"/>
                      </a:solidFill>
                      <a:latin typeface="Lato Medium"/>
                    </a:defRPr>
                  </a:pPr>
                </a:p>
              </c:txPr>
              <c:dLblPos val="outEnd"/>
              <c:showLegendKey val="0"/>
              <c:showVal val="0"/>
              <c:showCatName val="0"/>
              <c:showSerName val="0"/>
              <c:showPercent val="0"/>
              <c:showBubbleSize val="0"/>
            </c:dLbl>
            <c:dLbl>
              <c:idx val="3"/>
              <c:numFmt formatCode="0.#" sourceLinked="0"/>
              <c:txPr>
                <a:bodyPr/>
                <a:lstStyle/>
                <a:p>
                  <a:pPr>
                    <a:defRPr b="0" i="0" strike="noStrike" sz="1000" u="none">
                      <a:solidFill>
                        <a:srgbClr val="000000"/>
                      </a:solidFill>
                      <a:latin typeface="Lato Medium"/>
                    </a:defRPr>
                  </a:pPr>
                </a:p>
              </c:txPr>
              <c:dLblPos val="outEnd"/>
              <c:showLegendKey val="0"/>
              <c:showVal val="0"/>
              <c:showCatName val="0"/>
              <c:showSerName val="0"/>
              <c:showPercent val="0"/>
              <c:showBubbleSize val="0"/>
            </c:dLbl>
            <c:numFmt formatCode="0.##" sourceLinked="0"/>
            <c:txPr>
              <a:bodyPr/>
              <a:lstStyle/>
              <a:p>
                <a:pPr>
                  <a:defRPr b="0" i="0" strike="noStrike" sz="1000" u="none">
                    <a:solidFill>
                      <a:srgbClr val="000000"/>
                    </a:solidFill>
                    <a:latin typeface="Lato Medium"/>
                  </a:defRPr>
                </a:pPr>
              </a:p>
            </c:txPr>
            <c:dLblPos val="outEnd"/>
            <c:showLegendKey val="0"/>
            <c:showVal val="0"/>
            <c:showCatName val="0"/>
            <c:showSerName val="0"/>
            <c:showPercent val="0"/>
            <c:showBubbleSize val="0"/>
            <c:showLeaderLines val="0"/>
          </c:dLbls>
          <c:cat>
            <c:strLit>
              <c:ptCount val="4"/>
              <c:pt idx="0">
                <c:v>1st Qtr</c:v>
              </c:pt>
              <c:pt idx="1">
                <c:v>2nd Qtr</c:v>
              </c:pt>
              <c:pt idx="2">
                <c:v>3rd Qtr</c:v>
              </c:pt>
              <c:pt idx="3">
                <c:v>4th Qtr</c:v>
              </c:pt>
            </c:strLit>
          </c:cat>
          <c:val>
            <c:numLit>
              <c:ptCount val="4"/>
              <c:pt idx="0">
                <c:v>8.200000</c:v>
              </c:pt>
              <c:pt idx="1">
                <c:v>3.200000</c:v>
              </c:pt>
              <c:pt idx="2">
                <c:v>1.400000</c:v>
              </c:pt>
              <c:pt idx="3">
                <c:v>1.200000</c:v>
              </c:pt>
            </c:numLit>
          </c:val>
        </c:ser>
        <c:gapWidth val="100"/>
        <c:overlap val="0"/>
        <c:axId val="2094734552"/>
        <c:axId val="2094734553"/>
      </c:barChart>
      <c:catAx>
        <c:axId val="2094734552"/>
        <c:scaling>
          <c:orientation val="minMax"/>
        </c:scaling>
        <c:delete val="0"/>
        <c:axPos val="b"/>
        <c:numFmt formatCode="General" sourceLinked="0"/>
        <c:majorTickMark val="out"/>
        <c:minorTickMark val="none"/>
        <c:tickLblPos val="low"/>
        <c:spPr>
          <a:ln w="12700" cap="flat">
            <a:solidFill>
              <a:srgbClr val="D9D9D9"/>
            </a:solidFill>
            <a:prstDash val="solid"/>
            <a:round/>
          </a:ln>
        </c:spPr>
        <c:txPr>
          <a:bodyPr rot="0"/>
          <a:lstStyle/>
          <a:p>
            <a:pPr>
              <a:defRPr b="0" i="0" strike="noStrike" sz="1100" u="none">
                <a:solidFill>
                  <a:srgbClr val="595959"/>
                </a:solidFill>
                <a:latin typeface="Lato Medium"/>
              </a:defRPr>
            </a:pPr>
          </a:p>
        </c:txPr>
        <c:crossAx val="2094734553"/>
        <c:crosses val="autoZero"/>
        <c:auto val="1"/>
        <c:lblAlgn val="ctr"/>
        <c:noMultiLvlLbl val="1"/>
      </c:catAx>
      <c:valAx>
        <c:axId val="2094734553"/>
        <c:scaling>
          <c:orientation val="minMax"/>
        </c:scaling>
        <c:delete val="0"/>
        <c:axPos val="l"/>
        <c:majorGridlines>
          <c:spPr>
            <a:ln w="12700" cap="flat">
              <a:solidFill>
                <a:srgbClr val="D9D9D9"/>
              </a:solidFill>
              <a:prstDash val="solid"/>
              <a:round/>
            </a:ln>
          </c:spPr>
        </c:majorGridlines>
        <c:numFmt formatCode="0.##" sourceLinked="0"/>
        <c:majorTickMark val="none"/>
        <c:minorTickMark val="none"/>
        <c:tickLblPos val="nextTo"/>
        <c:spPr>
          <a:ln w="12700" cap="flat">
            <a:noFill/>
            <a:prstDash val="solid"/>
            <a:round/>
          </a:ln>
        </c:spPr>
        <c:txPr>
          <a:bodyPr rot="0"/>
          <a:lstStyle/>
          <a:p>
            <a:pPr>
              <a:defRPr b="0" i="0" strike="noStrike" sz="1100" u="none">
                <a:solidFill>
                  <a:srgbClr val="595959"/>
                </a:solidFill>
                <a:latin typeface="Lato Medium"/>
              </a:defRPr>
            </a:pPr>
          </a:p>
        </c:txPr>
        <c:crossAx val="2094734552"/>
        <c:crosses val="autoZero"/>
        <c:crossBetween val="between"/>
        <c:majorUnit val="2.25"/>
        <c:minorUnit val="1.125"/>
      </c:valAx>
      <c:spPr>
        <a:noFill/>
        <a:ln w="12700" cap="flat">
          <a:noFill/>
          <a:miter lim="400000"/>
        </a:ln>
        <a:effectLst/>
      </c:spPr>
    </c:plotArea>
    <c:legend>
      <c:legendPos val="b"/>
      <c:layout>
        <c:manualLayout>
          <c:xMode val="edge"/>
          <c:yMode val="edge"/>
          <c:x val="0.117789"/>
          <c:y val="0.926987"/>
          <c:w val="0.797164"/>
          <c:h val="0.0730131"/>
        </c:manualLayout>
      </c:layout>
      <c:overlay val="1"/>
      <c:spPr>
        <a:noFill/>
        <a:ln w="12700" cap="flat">
          <a:noFill/>
          <a:miter lim="400000"/>
        </a:ln>
        <a:effectLst/>
      </c:spPr>
      <c:txPr>
        <a:bodyPr rot="0"/>
        <a:lstStyle/>
        <a:p>
          <a:pPr>
            <a:defRPr b="0" i="0" strike="noStrike" sz="1800" u="none">
              <a:solidFill>
                <a:srgbClr val="595959"/>
              </a:solidFill>
              <a:latin typeface="Lato Medium"/>
            </a:defRPr>
          </a:pPr>
        </a:p>
      </c:txPr>
    </c:legend>
    <c:plotVisOnly val="1"/>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1"/>
  <c:roundedCorners val="0"/>
  <c:chart>
    <c:title>
      <c:tx>
        <c:rich>
          <a:bodyPr rot="0"/>
          <a:lstStyle/>
          <a:p>
            <a:pPr>
              <a:defRPr b="1" i="0" strike="noStrike" sz="1800" u="none">
                <a:solidFill>
                  <a:srgbClr val="595959"/>
                </a:solidFill>
                <a:latin typeface="Lato Medium"/>
              </a:defRPr>
            </a:pPr>
            <a:r>
              <a:rPr b="1" i="0" strike="noStrike" sz="1800" u="none">
                <a:solidFill>
                  <a:srgbClr val="595959"/>
                </a:solidFill>
                <a:latin typeface="Lato Medium"/>
              </a:rPr>
              <a:t>Example chart</a:t>
            </a:r>
          </a:p>
        </c:rich>
      </c:tx>
      <c:layout>
        <c:manualLayout>
          <c:xMode val="edge"/>
          <c:yMode val="edge"/>
          <c:x val="0.346371"/>
          <c:y val="0"/>
          <c:w val="0.308047"/>
          <c:h val="0.0537591"/>
        </c:manualLayout>
      </c:layout>
      <c:overlay val="1"/>
      <c:spPr>
        <a:noFill/>
        <a:effectLst/>
      </c:spPr>
    </c:title>
    <c:autoTitleDeleted val="1"/>
    <c:view3D>
      <c:rotX val="50"/>
      <c:hPercent val="50"/>
      <c:rotY val="0"/>
      <c:depthPercent val="100"/>
      <c:rAngAx val="0"/>
      <c:perspective val="30"/>
    </c:view3D>
    <c:floor>
      <c:spPr>
        <a:noFill/>
        <a:ln>
          <a:noFill/>
        </a:ln>
        <a:effectLst/>
        <a:sp3d/>
      </c:spPr>
    </c:floor>
    <c:sideWall>
      <c:spPr>
        <a:noFill/>
        <a:ln>
          <a:noFill/>
        </a:ln>
        <a:effectLst/>
        <a:sp3d/>
      </c:spPr>
    </c:sideWall>
    <c:backWall>
      <c:spPr>
        <a:noFill/>
        <a:ln>
          <a:noFill/>
        </a:ln>
        <a:effectLst/>
        <a:sp3d/>
      </c:spPr>
    </c:backWall>
    <c:plotArea>
      <c:layout>
        <c:manualLayout>
          <c:layoutTarget val="inner"/>
          <c:xMode val="edge"/>
          <c:yMode val="edge"/>
          <c:x val="0.105231"/>
          <c:y val="0.0560445"/>
          <c:w val="0.790329"/>
          <c:h val="0.713598"/>
        </c:manualLayout>
      </c:layout>
      <c:pie3DChart>
        <c:varyColors val="0"/>
        <c:ser>
          <c:idx val="0"/>
          <c:order val="0"/>
          <c:tx>
            <c:strRef>
              <c:f>Sheet1!$A$2</c:f>
              <c:strCache>
                <c:ptCount val="1"/>
                <c:pt idx="0">
                  <c:v>Sales</c:v>
                </c:pt>
              </c:strCache>
            </c:strRef>
          </c:tx>
          <c:spPr>
            <a:solidFill>
              <a:schemeClr val="accent1"/>
            </a:solidFill>
            <a:ln w="25400" cap="flat">
              <a:noFill/>
              <a:prstDash val="solid"/>
              <a:round/>
            </a:ln>
            <a:effectLst/>
            <a:sp3d prstMaterial="matte"/>
          </c:spPr>
          <c:explosion val="0"/>
          <c:dPt>
            <c:idx val="0"/>
            <c:explosion val="0"/>
            <c:spPr>
              <a:solidFill>
                <a:schemeClr val="accent1"/>
              </a:solidFill>
              <a:ln w="25400" cap="flat">
                <a:noFill/>
                <a:prstDash val="solid"/>
                <a:round/>
              </a:ln>
              <a:effectLst/>
              <a:sp3d prstMaterial="matte"/>
            </c:spPr>
          </c:dPt>
          <c:dPt>
            <c:idx val="1"/>
            <c:explosion val="0"/>
            <c:spPr>
              <a:solidFill>
                <a:schemeClr val="accent2"/>
              </a:solidFill>
              <a:ln w="25400" cap="flat">
                <a:noFill/>
                <a:prstDash val="solid"/>
                <a:round/>
              </a:ln>
              <a:effectLst/>
              <a:sp3d prstMaterial="matte"/>
            </c:spPr>
          </c:dPt>
          <c:dPt>
            <c:idx val="2"/>
            <c:explosion val="0"/>
            <c:spPr>
              <a:solidFill>
                <a:schemeClr val="accent3"/>
              </a:solidFill>
              <a:ln w="25400" cap="flat">
                <a:noFill/>
                <a:prstDash val="solid"/>
                <a:round/>
              </a:ln>
              <a:effectLst/>
              <a:sp3d prstMaterial="matte"/>
            </c:spPr>
          </c:dPt>
          <c:dPt>
            <c:idx val="3"/>
            <c:explosion val="0"/>
            <c:spPr>
              <a:solidFill>
                <a:schemeClr val="accent4"/>
              </a:solidFill>
              <a:ln w="25400" cap="flat">
                <a:noFill/>
                <a:prstDash val="solid"/>
                <a:round/>
              </a:ln>
              <a:effectLst/>
              <a:sp3d prstMaterial="matte"/>
            </c:spPr>
          </c:dPt>
          <c:dLbls>
            <c:dLbl>
              <c:idx val="0"/>
              <c:numFmt formatCode="0.##" sourceLinked="0"/>
              <c:txPr>
                <a:bodyPr/>
                <a:lstStyle/>
                <a:p>
                  <a:pPr>
                    <a:defRPr b="0" i="0" strike="noStrike" sz="1000" u="none">
                      <a:solidFill>
                        <a:srgbClr val="000000"/>
                      </a:solidFill>
                      <a:latin typeface="Lato Medium"/>
                    </a:defRPr>
                  </a:pPr>
                </a:p>
              </c:txPr>
              <c:dLblPos val="inEnd"/>
              <c:showLegendKey val="0"/>
              <c:showVal val="0"/>
              <c:showCatName val="0"/>
              <c:showSerName val="0"/>
              <c:showPercent val="0"/>
              <c:showBubbleSize val="0"/>
            </c:dLbl>
            <c:dLbl>
              <c:idx val="1"/>
              <c:numFmt formatCode="0.#" sourceLinked="0"/>
              <c:txPr>
                <a:bodyPr/>
                <a:lstStyle/>
                <a:p>
                  <a:pPr>
                    <a:defRPr b="0" i="0" strike="noStrike" sz="1000" u="none">
                      <a:solidFill>
                        <a:srgbClr val="000000"/>
                      </a:solidFill>
                      <a:latin typeface="Lato Medium"/>
                    </a:defRPr>
                  </a:pPr>
                </a:p>
              </c:txPr>
              <c:dLblPos val="inEnd"/>
              <c:showLegendKey val="0"/>
              <c:showVal val="0"/>
              <c:showCatName val="0"/>
              <c:showSerName val="0"/>
              <c:showPercent val="0"/>
              <c:showBubbleSize val="0"/>
            </c:dLbl>
            <c:dLbl>
              <c:idx val="2"/>
              <c:numFmt formatCode="0.#" sourceLinked="0"/>
              <c:txPr>
                <a:bodyPr/>
                <a:lstStyle/>
                <a:p>
                  <a:pPr>
                    <a:defRPr b="0" i="0" strike="noStrike" sz="1000" u="none">
                      <a:solidFill>
                        <a:srgbClr val="000000"/>
                      </a:solidFill>
                      <a:latin typeface="Lato Medium"/>
                    </a:defRPr>
                  </a:pPr>
                </a:p>
              </c:txPr>
              <c:dLblPos val="inEnd"/>
              <c:showLegendKey val="0"/>
              <c:showVal val="0"/>
              <c:showCatName val="0"/>
              <c:showSerName val="0"/>
              <c:showPercent val="0"/>
              <c:showBubbleSize val="0"/>
            </c:dLbl>
            <c:dLbl>
              <c:idx val="3"/>
              <c:numFmt formatCode="0.#" sourceLinked="0"/>
              <c:txPr>
                <a:bodyPr/>
                <a:lstStyle/>
                <a:p>
                  <a:pPr>
                    <a:defRPr b="0" i="0" strike="noStrike" sz="1000" u="none">
                      <a:solidFill>
                        <a:srgbClr val="000000"/>
                      </a:solidFill>
                      <a:latin typeface="Lato Medium"/>
                    </a:defRPr>
                  </a:pPr>
                </a:p>
              </c:txPr>
              <c:dLblPos val="inEnd"/>
              <c:showLegendKey val="0"/>
              <c:showVal val="0"/>
              <c:showCatName val="0"/>
              <c:showSerName val="0"/>
              <c:showPercent val="0"/>
              <c:showBubbleSize val="0"/>
            </c:dLbl>
            <c:numFmt formatCode="0.##" sourceLinked="0"/>
            <c:txPr>
              <a:bodyPr/>
              <a:lstStyle/>
              <a:p>
                <a:pPr>
                  <a:defRPr b="0" i="0" strike="noStrike" sz="1000" u="none">
                    <a:solidFill>
                      <a:srgbClr val="000000"/>
                    </a:solidFill>
                    <a:latin typeface="Lato Medium"/>
                  </a:defRPr>
                </a:pPr>
              </a:p>
            </c:txPr>
            <c:dLblPos val="inEnd"/>
            <c:showLegendKey val="0"/>
            <c:showVal val="0"/>
            <c:showCatName val="0"/>
            <c:showSerName val="0"/>
            <c:showPercent val="0"/>
            <c:showBubbleSize val="0"/>
            <c:showLeaderLines val="0"/>
          </c:dLbls>
          <c:cat>
            <c:strRef>
              <c:f>Sheet1!$B$1:$E$1</c:f>
              <c:strCache>
                <c:ptCount val="4"/>
                <c:pt idx="0">
                  <c:v>1st Qtr</c:v>
                </c:pt>
                <c:pt idx="1">
                  <c:v>2nd Qtr</c:v>
                </c:pt>
                <c:pt idx="2">
                  <c:v>3rd Qtr</c:v>
                </c:pt>
                <c:pt idx="3">
                  <c:v>4th Qtr</c:v>
                </c:pt>
              </c:strCache>
            </c:strRef>
          </c:cat>
          <c:val>
            <c:numRef>
              <c:f>Sheet1!$B$2:$E$2</c:f>
              <c:numCache>
                <c:ptCount val="4"/>
                <c:pt idx="0">
                  <c:v>8.200000</c:v>
                </c:pt>
                <c:pt idx="1">
                  <c:v>3.200000</c:v>
                </c:pt>
                <c:pt idx="2">
                  <c:v>1.400000</c:v>
                </c:pt>
                <c:pt idx="3">
                  <c:v>1.200000</c:v>
                </c:pt>
              </c:numCache>
            </c:numRef>
          </c:val>
        </c:ser>
      </c:pie3DChart>
      <c:spPr>
        <a:noFill/>
        <a:ln w="12700" cap="flat">
          <a:noFill/>
          <a:miter lim="400000"/>
        </a:ln>
        <a:effectLst/>
      </c:spPr>
    </c:plotArea>
    <c:legend>
      <c:legendPos val="b"/>
      <c:layout>
        <c:manualLayout>
          <c:xMode val="edge"/>
          <c:yMode val="edge"/>
          <c:x val="0"/>
          <c:y val="0.916788"/>
          <c:w val="1"/>
          <c:h val="0.083212"/>
        </c:manualLayout>
      </c:layout>
      <c:overlay val="1"/>
      <c:spPr>
        <a:noFill/>
        <a:ln w="12700" cap="flat">
          <a:noFill/>
          <a:miter lim="400000"/>
        </a:ln>
        <a:effectLst/>
      </c:spPr>
      <c:txPr>
        <a:bodyPr rot="0"/>
        <a:lstStyle/>
        <a:p>
          <a:pPr>
            <a:defRPr b="0" i="0" strike="noStrike" sz="1800" u="none">
              <a:solidFill>
                <a:srgbClr val="595959"/>
              </a:solidFill>
              <a:latin typeface="Lato Medium"/>
            </a:defRPr>
          </a:pPr>
        </a:p>
      </c:txPr>
    </c:legend>
    <c:plotVisOnly val="1"/>
    <c:dispBlanksAs val="gap"/>
  </c:chart>
  <c:spPr>
    <a:noFill/>
    <a:ln>
      <a:noFill/>
    </a:ln>
    <a:effectLst/>
  </c:spPr>
  <c:externalData r:id="rId1">
    <c:autoUpdate val="0"/>
  </c:externalData>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25" name="Shape 25"/>
          <p:cNvSpPr/>
          <p:nvPr>
            <p:ph type="sldImg"/>
          </p:nvPr>
        </p:nvSpPr>
        <p:spPr>
          <a:xfrm>
            <a:off x="1143000" y="685800"/>
            <a:ext cx="4572000" cy="3429000"/>
          </a:xfrm>
          <a:prstGeom prst="rect">
            <a:avLst/>
          </a:prstGeom>
        </p:spPr>
        <p:txBody>
          <a:bodyPr/>
          <a:lstStyle/>
          <a:p>
            <a:pPr/>
          </a:p>
        </p:txBody>
      </p:sp>
      <p:sp>
        <p:nvSpPr>
          <p:cNvPr id="26" name="Shape 2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j-lt"/>
        <a:ea typeface="+mj-ea"/>
        <a:cs typeface="+mj-cs"/>
        <a:sym typeface="Lato Medium"/>
      </a:defRPr>
    </a:lvl1pPr>
    <a:lvl2pPr indent="228600" defTabSz="457200" latinLnBrk="0">
      <a:defRPr sz="1200">
        <a:latin typeface="+mj-lt"/>
        <a:ea typeface="+mj-ea"/>
        <a:cs typeface="+mj-cs"/>
        <a:sym typeface="Lato Medium"/>
      </a:defRPr>
    </a:lvl2pPr>
    <a:lvl3pPr indent="457200" defTabSz="457200" latinLnBrk="0">
      <a:defRPr sz="1200">
        <a:latin typeface="+mj-lt"/>
        <a:ea typeface="+mj-ea"/>
        <a:cs typeface="+mj-cs"/>
        <a:sym typeface="Lato Medium"/>
      </a:defRPr>
    </a:lvl3pPr>
    <a:lvl4pPr indent="685800" defTabSz="457200" latinLnBrk="0">
      <a:defRPr sz="1200">
        <a:latin typeface="+mj-lt"/>
        <a:ea typeface="+mj-ea"/>
        <a:cs typeface="+mj-cs"/>
        <a:sym typeface="Lato Medium"/>
      </a:defRPr>
    </a:lvl4pPr>
    <a:lvl5pPr indent="914400" defTabSz="457200" latinLnBrk="0">
      <a:defRPr sz="1200">
        <a:latin typeface="+mj-lt"/>
        <a:ea typeface="+mj-ea"/>
        <a:cs typeface="+mj-cs"/>
        <a:sym typeface="Lato Medium"/>
      </a:defRPr>
    </a:lvl5pPr>
    <a:lvl6pPr indent="1143000" defTabSz="457200" latinLnBrk="0">
      <a:defRPr sz="1200">
        <a:latin typeface="+mj-lt"/>
        <a:ea typeface="+mj-ea"/>
        <a:cs typeface="+mj-cs"/>
        <a:sym typeface="Lato Medium"/>
      </a:defRPr>
    </a:lvl6pPr>
    <a:lvl7pPr indent="1371600" defTabSz="457200" latinLnBrk="0">
      <a:defRPr sz="1200">
        <a:latin typeface="+mj-lt"/>
        <a:ea typeface="+mj-ea"/>
        <a:cs typeface="+mj-cs"/>
        <a:sym typeface="Lato Medium"/>
      </a:defRPr>
    </a:lvl7pPr>
    <a:lvl8pPr indent="1600200" defTabSz="457200" latinLnBrk="0">
      <a:defRPr sz="1200">
        <a:latin typeface="+mj-lt"/>
        <a:ea typeface="+mj-ea"/>
        <a:cs typeface="+mj-cs"/>
        <a:sym typeface="Lato Medium"/>
      </a:defRPr>
    </a:lvl8pPr>
    <a:lvl9pPr indent="1828800" defTabSz="457200" latinLnBrk="0">
      <a:defRPr sz="1200">
        <a:latin typeface="+mj-lt"/>
        <a:ea typeface="+mj-ea"/>
        <a:cs typeface="+mj-cs"/>
        <a:sym typeface="Lato Medium"/>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oster template">
    <p:spTree>
      <p:nvGrpSpPr>
        <p:cNvPr id="1" name=""/>
        <p:cNvGrpSpPr/>
        <p:nvPr/>
      </p:nvGrpSpPr>
      <p:grpSpPr>
        <a:xfrm>
          <a:off x="0" y="0"/>
          <a:ext cx="0" cy="0"/>
          <a:chOff x="0" y="0"/>
          <a:chExt cx="0" cy="0"/>
        </a:xfrm>
      </p:grpSpPr>
      <p:sp>
        <p:nvSpPr>
          <p:cNvPr id="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pic>
        <p:nvPicPr>
          <p:cNvPr id="2" name="Picture 6" descr="Picture 6"/>
          <p:cNvPicPr>
            <a:picLocks noChangeAspect="1"/>
          </p:cNvPicPr>
          <p:nvPr/>
        </p:nvPicPr>
        <p:blipFill>
          <a:blip r:embed="rId2">
            <a:extLst/>
          </a:blip>
          <a:stretch>
            <a:fillRect/>
          </a:stretch>
        </p:blipFill>
        <p:spPr>
          <a:xfrm>
            <a:off x="-3" y="0"/>
            <a:ext cx="43891204" cy="32918400"/>
          </a:xfrm>
          <a:prstGeom prst="rect">
            <a:avLst/>
          </a:prstGeom>
          <a:ln w="12700">
            <a:miter lim="400000"/>
          </a:ln>
        </p:spPr>
      </p:pic>
      <p:sp>
        <p:nvSpPr>
          <p:cNvPr id="3" name="Rectangle 20"/>
          <p:cNvSpPr/>
          <p:nvPr/>
        </p:nvSpPr>
        <p:spPr>
          <a:xfrm>
            <a:off x="501267" y="7766129"/>
            <a:ext cx="14020801" cy="25152271"/>
          </a:xfrm>
          <a:prstGeom prst="rect">
            <a:avLst/>
          </a:prstGeom>
          <a:solidFill>
            <a:srgbClr val="FFFFFF">
              <a:alpha val="85000"/>
            </a:srgbClr>
          </a:solidFill>
          <a:ln w="12700">
            <a:miter lim="400000"/>
          </a:ln>
        </p:spPr>
        <p:txBody>
          <a:bodyPr lIns="45719" rIns="45719" anchor="ctr"/>
          <a:lstStyle/>
          <a:p>
            <a:pPr algn="ctr" defTabSz="2418455">
              <a:defRPr b="1" sz="3600">
                <a:solidFill>
                  <a:schemeClr val="accent1"/>
                </a:solidFill>
              </a:defRPr>
            </a:pPr>
          </a:p>
        </p:txBody>
      </p:sp>
      <p:sp>
        <p:nvSpPr>
          <p:cNvPr id="4" name="Rectangle 20"/>
          <p:cNvSpPr/>
          <p:nvPr/>
        </p:nvSpPr>
        <p:spPr>
          <a:xfrm>
            <a:off x="29369131" y="7766129"/>
            <a:ext cx="14020801" cy="25152271"/>
          </a:xfrm>
          <a:prstGeom prst="rect">
            <a:avLst/>
          </a:prstGeom>
          <a:solidFill>
            <a:srgbClr val="FFFFFF">
              <a:alpha val="85000"/>
            </a:srgbClr>
          </a:solidFill>
          <a:ln w="12700">
            <a:miter lim="400000"/>
          </a:ln>
        </p:spPr>
        <p:txBody>
          <a:bodyPr lIns="45719" rIns="45719" anchor="ctr"/>
          <a:lstStyle/>
          <a:p>
            <a:pPr algn="ctr" defTabSz="2418455">
              <a:defRPr b="1" sz="3600">
                <a:solidFill>
                  <a:schemeClr val="accent1"/>
                </a:solidFill>
              </a:defRPr>
            </a:pPr>
          </a:p>
        </p:txBody>
      </p:sp>
      <p:sp>
        <p:nvSpPr>
          <p:cNvPr id="5" name="Rectangle 20"/>
          <p:cNvSpPr/>
          <p:nvPr/>
        </p:nvSpPr>
        <p:spPr>
          <a:xfrm>
            <a:off x="14935200" y="7766129"/>
            <a:ext cx="14020800" cy="25152271"/>
          </a:xfrm>
          <a:prstGeom prst="rect">
            <a:avLst/>
          </a:prstGeom>
          <a:solidFill>
            <a:srgbClr val="FFFFFF">
              <a:alpha val="85000"/>
            </a:srgbClr>
          </a:solidFill>
          <a:ln w="12700">
            <a:miter lim="400000"/>
          </a:ln>
        </p:spPr>
        <p:txBody>
          <a:bodyPr lIns="45719" rIns="45719" anchor="ctr"/>
          <a:lstStyle/>
          <a:p>
            <a:pPr algn="ctr" defTabSz="2418455">
              <a:defRPr b="1" sz="3600">
                <a:solidFill>
                  <a:schemeClr val="accent1"/>
                </a:solidFill>
              </a:defRPr>
            </a:pPr>
          </a:p>
        </p:txBody>
      </p:sp>
      <p:sp>
        <p:nvSpPr>
          <p:cNvPr id="6" name="Rectangle 20"/>
          <p:cNvSpPr/>
          <p:nvPr/>
        </p:nvSpPr>
        <p:spPr>
          <a:xfrm flipV="1">
            <a:off x="501267" y="32727000"/>
            <a:ext cx="14020801" cy="191401"/>
          </a:xfrm>
          <a:prstGeom prst="rect">
            <a:avLst/>
          </a:prstGeom>
          <a:solidFill>
            <a:schemeClr val="accent1"/>
          </a:solidFill>
          <a:ln w="12700">
            <a:miter lim="400000"/>
          </a:ln>
        </p:spPr>
        <p:txBody>
          <a:bodyPr lIns="45719" rIns="45719" anchor="ctr"/>
          <a:lstStyle/>
          <a:p>
            <a:pPr algn="ctr" defTabSz="2418455">
              <a:defRPr b="1" sz="3600">
                <a:solidFill>
                  <a:schemeClr val="accent1"/>
                </a:solidFill>
              </a:defRPr>
            </a:pPr>
          </a:p>
        </p:txBody>
      </p:sp>
      <p:sp>
        <p:nvSpPr>
          <p:cNvPr id="7" name="Rectangle 20"/>
          <p:cNvSpPr/>
          <p:nvPr/>
        </p:nvSpPr>
        <p:spPr>
          <a:xfrm flipV="1">
            <a:off x="29369131" y="32727000"/>
            <a:ext cx="14020801" cy="191401"/>
          </a:xfrm>
          <a:prstGeom prst="rect">
            <a:avLst/>
          </a:prstGeom>
          <a:solidFill>
            <a:schemeClr val="accent1"/>
          </a:solidFill>
          <a:ln w="12700">
            <a:miter lim="400000"/>
          </a:ln>
        </p:spPr>
        <p:txBody>
          <a:bodyPr lIns="45719" rIns="45719" anchor="ctr"/>
          <a:lstStyle/>
          <a:p>
            <a:pPr algn="ctr" defTabSz="2418455">
              <a:defRPr b="1" sz="3600">
                <a:solidFill>
                  <a:schemeClr val="accent1"/>
                </a:solidFill>
              </a:defRPr>
            </a:pPr>
          </a:p>
        </p:txBody>
      </p:sp>
      <p:sp>
        <p:nvSpPr>
          <p:cNvPr id="8" name="Rectangle 20"/>
          <p:cNvSpPr/>
          <p:nvPr/>
        </p:nvSpPr>
        <p:spPr>
          <a:xfrm flipV="1">
            <a:off x="14935200" y="32726997"/>
            <a:ext cx="14020800" cy="191400"/>
          </a:xfrm>
          <a:prstGeom prst="rect">
            <a:avLst/>
          </a:prstGeom>
          <a:solidFill>
            <a:schemeClr val="accent1"/>
          </a:solidFill>
          <a:ln w="12700">
            <a:miter lim="400000"/>
          </a:ln>
        </p:spPr>
        <p:txBody>
          <a:bodyPr lIns="45719" rIns="45719" anchor="ctr"/>
          <a:lstStyle/>
          <a:p>
            <a:pPr algn="ctr" defTabSz="2418455">
              <a:defRPr b="1" sz="3600">
                <a:solidFill>
                  <a:schemeClr val="accent1"/>
                </a:solidFill>
              </a:defRPr>
            </a:pPr>
          </a:p>
        </p:txBody>
      </p:sp>
      <p:sp>
        <p:nvSpPr>
          <p:cNvPr id="9" name="Rectangle 13"/>
          <p:cNvSpPr/>
          <p:nvPr/>
        </p:nvSpPr>
        <p:spPr>
          <a:xfrm>
            <a:off x="-2" y="-3"/>
            <a:ext cx="43891201" cy="6864195"/>
          </a:xfrm>
          <a:prstGeom prst="rect">
            <a:avLst/>
          </a:prstGeom>
          <a:gradFill>
            <a:gsLst>
              <a:gs pos="16000">
                <a:srgbClr val="3D7A67"/>
              </a:gs>
              <a:gs pos="100000">
                <a:srgbClr val="093F39"/>
              </a:gs>
            </a:gsLst>
            <a:lin ang="18900000"/>
          </a:gradFill>
          <a:ln w="12700">
            <a:miter lim="400000"/>
          </a:ln>
        </p:spPr>
        <p:txBody>
          <a:bodyPr lIns="45719" rIns="45719" anchor="ctr"/>
          <a:lstStyle/>
          <a:p>
            <a:pPr algn="ctr">
              <a:defRPr sz="2500">
                <a:solidFill>
                  <a:srgbClr val="FFFFFF"/>
                </a:solidFill>
              </a:defRPr>
            </a:pPr>
          </a:p>
        </p:txBody>
      </p:sp>
      <p:sp>
        <p:nvSpPr>
          <p:cNvPr id="10" name="Title Text"/>
          <p:cNvSpPr txBox="1"/>
          <p:nvPr>
            <p:ph type="title"/>
          </p:nvPr>
        </p:nvSpPr>
        <p:spPr>
          <a:xfrm>
            <a:off x="2194560" y="441959"/>
            <a:ext cx="39502079" cy="72390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11" name="Body Level One…"/>
          <p:cNvSpPr txBox="1"/>
          <p:nvPr>
            <p:ph type="body" idx="1"/>
          </p:nvPr>
        </p:nvSpPr>
        <p:spPr>
          <a:xfrm>
            <a:off x="2194560" y="7680959"/>
            <a:ext cx="39502079" cy="25237442"/>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12" name="Slide Number"/>
          <p:cNvSpPr txBox="1"/>
          <p:nvPr>
            <p:ph type="sldNum" sz="quarter" idx="2"/>
          </p:nvPr>
        </p:nvSpPr>
        <p:spPr>
          <a:xfrm>
            <a:off x="21214080" y="29634178"/>
            <a:ext cx="10241281" cy="1752601"/>
          </a:xfrm>
          <a:prstGeom prst="rect">
            <a:avLst/>
          </a:prstGeom>
          <a:ln w="12700">
            <a:miter lim="400000"/>
          </a:ln>
        </p:spPr>
        <p:txBody>
          <a:bodyPr wrap="none" lIns="45719" rIns="45719" anchor="ctr">
            <a:spAutoFit/>
          </a:bodyPr>
          <a:lstStyle>
            <a:lvl1pPr algn="r">
              <a:defRPr sz="57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Lst>
  <p:transition xmlns:p14="http://schemas.microsoft.com/office/powerpoint/2010/main" spd="med" advClick="1"/>
  <p:txStyles>
    <p:titleStyle>
      <a:lvl1pPr marL="0" marR="0" indent="0" algn="l" defTabSz="4389120" rtl="0" latinLnBrk="0">
        <a:lnSpc>
          <a:spcPct val="90000"/>
        </a:lnSpc>
        <a:spcBef>
          <a:spcPts val="0"/>
        </a:spcBef>
        <a:spcAft>
          <a:spcPts val="0"/>
        </a:spcAft>
        <a:buClrTx/>
        <a:buSzTx/>
        <a:buFontTx/>
        <a:buNone/>
        <a:tabLst/>
        <a:defRPr b="0" baseline="0" cap="none" i="0" spc="0" strike="noStrike" sz="21100" u="none">
          <a:solidFill>
            <a:srgbClr val="000000"/>
          </a:solidFill>
          <a:uFillTx/>
          <a:latin typeface="Lato Heavy"/>
          <a:ea typeface="Lato Heavy"/>
          <a:cs typeface="Lato Heavy"/>
          <a:sym typeface="Lato Heavy"/>
        </a:defRPr>
      </a:lvl1pPr>
      <a:lvl2pPr marL="0" marR="0" indent="0" algn="l" defTabSz="4389120" rtl="0" latinLnBrk="0">
        <a:lnSpc>
          <a:spcPct val="90000"/>
        </a:lnSpc>
        <a:spcBef>
          <a:spcPts val="0"/>
        </a:spcBef>
        <a:spcAft>
          <a:spcPts val="0"/>
        </a:spcAft>
        <a:buClrTx/>
        <a:buSzTx/>
        <a:buFontTx/>
        <a:buNone/>
        <a:tabLst/>
        <a:defRPr b="0" baseline="0" cap="none" i="0" spc="0" strike="noStrike" sz="21100" u="none">
          <a:solidFill>
            <a:srgbClr val="000000"/>
          </a:solidFill>
          <a:uFillTx/>
          <a:latin typeface="Lato Heavy"/>
          <a:ea typeface="Lato Heavy"/>
          <a:cs typeface="Lato Heavy"/>
          <a:sym typeface="Lato Heavy"/>
        </a:defRPr>
      </a:lvl2pPr>
      <a:lvl3pPr marL="0" marR="0" indent="0" algn="l" defTabSz="4389120" rtl="0" latinLnBrk="0">
        <a:lnSpc>
          <a:spcPct val="90000"/>
        </a:lnSpc>
        <a:spcBef>
          <a:spcPts val="0"/>
        </a:spcBef>
        <a:spcAft>
          <a:spcPts val="0"/>
        </a:spcAft>
        <a:buClrTx/>
        <a:buSzTx/>
        <a:buFontTx/>
        <a:buNone/>
        <a:tabLst/>
        <a:defRPr b="0" baseline="0" cap="none" i="0" spc="0" strike="noStrike" sz="21100" u="none">
          <a:solidFill>
            <a:srgbClr val="000000"/>
          </a:solidFill>
          <a:uFillTx/>
          <a:latin typeface="Lato Heavy"/>
          <a:ea typeface="Lato Heavy"/>
          <a:cs typeface="Lato Heavy"/>
          <a:sym typeface="Lato Heavy"/>
        </a:defRPr>
      </a:lvl3pPr>
      <a:lvl4pPr marL="0" marR="0" indent="0" algn="l" defTabSz="4389120" rtl="0" latinLnBrk="0">
        <a:lnSpc>
          <a:spcPct val="90000"/>
        </a:lnSpc>
        <a:spcBef>
          <a:spcPts val="0"/>
        </a:spcBef>
        <a:spcAft>
          <a:spcPts val="0"/>
        </a:spcAft>
        <a:buClrTx/>
        <a:buSzTx/>
        <a:buFontTx/>
        <a:buNone/>
        <a:tabLst/>
        <a:defRPr b="0" baseline="0" cap="none" i="0" spc="0" strike="noStrike" sz="21100" u="none">
          <a:solidFill>
            <a:srgbClr val="000000"/>
          </a:solidFill>
          <a:uFillTx/>
          <a:latin typeface="Lato Heavy"/>
          <a:ea typeface="Lato Heavy"/>
          <a:cs typeface="Lato Heavy"/>
          <a:sym typeface="Lato Heavy"/>
        </a:defRPr>
      </a:lvl4pPr>
      <a:lvl5pPr marL="0" marR="0" indent="0" algn="l" defTabSz="4389120" rtl="0" latinLnBrk="0">
        <a:lnSpc>
          <a:spcPct val="90000"/>
        </a:lnSpc>
        <a:spcBef>
          <a:spcPts val="0"/>
        </a:spcBef>
        <a:spcAft>
          <a:spcPts val="0"/>
        </a:spcAft>
        <a:buClrTx/>
        <a:buSzTx/>
        <a:buFontTx/>
        <a:buNone/>
        <a:tabLst/>
        <a:defRPr b="0" baseline="0" cap="none" i="0" spc="0" strike="noStrike" sz="21100" u="none">
          <a:solidFill>
            <a:srgbClr val="000000"/>
          </a:solidFill>
          <a:uFillTx/>
          <a:latin typeface="Lato Heavy"/>
          <a:ea typeface="Lato Heavy"/>
          <a:cs typeface="Lato Heavy"/>
          <a:sym typeface="Lato Heavy"/>
        </a:defRPr>
      </a:lvl5pPr>
      <a:lvl6pPr marL="0" marR="0" indent="0" algn="l" defTabSz="4389120" rtl="0" latinLnBrk="0">
        <a:lnSpc>
          <a:spcPct val="90000"/>
        </a:lnSpc>
        <a:spcBef>
          <a:spcPts val="0"/>
        </a:spcBef>
        <a:spcAft>
          <a:spcPts val="0"/>
        </a:spcAft>
        <a:buClrTx/>
        <a:buSzTx/>
        <a:buFontTx/>
        <a:buNone/>
        <a:tabLst/>
        <a:defRPr b="0" baseline="0" cap="none" i="0" spc="0" strike="noStrike" sz="21100" u="none">
          <a:solidFill>
            <a:srgbClr val="000000"/>
          </a:solidFill>
          <a:uFillTx/>
          <a:latin typeface="Lato Heavy"/>
          <a:ea typeface="Lato Heavy"/>
          <a:cs typeface="Lato Heavy"/>
          <a:sym typeface="Lato Heavy"/>
        </a:defRPr>
      </a:lvl6pPr>
      <a:lvl7pPr marL="0" marR="0" indent="0" algn="l" defTabSz="4389120" rtl="0" latinLnBrk="0">
        <a:lnSpc>
          <a:spcPct val="90000"/>
        </a:lnSpc>
        <a:spcBef>
          <a:spcPts val="0"/>
        </a:spcBef>
        <a:spcAft>
          <a:spcPts val="0"/>
        </a:spcAft>
        <a:buClrTx/>
        <a:buSzTx/>
        <a:buFontTx/>
        <a:buNone/>
        <a:tabLst/>
        <a:defRPr b="0" baseline="0" cap="none" i="0" spc="0" strike="noStrike" sz="21100" u="none">
          <a:solidFill>
            <a:srgbClr val="000000"/>
          </a:solidFill>
          <a:uFillTx/>
          <a:latin typeface="Lato Heavy"/>
          <a:ea typeface="Lato Heavy"/>
          <a:cs typeface="Lato Heavy"/>
          <a:sym typeface="Lato Heavy"/>
        </a:defRPr>
      </a:lvl7pPr>
      <a:lvl8pPr marL="0" marR="0" indent="0" algn="l" defTabSz="4389120" rtl="0" latinLnBrk="0">
        <a:lnSpc>
          <a:spcPct val="90000"/>
        </a:lnSpc>
        <a:spcBef>
          <a:spcPts val="0"/>
        </a:spcBef>
        <a:spcAft>
          <a:spcPts val="0"/>
        </a:spcAft>
        <a:buClrTx/>
        <a:buSzTx/>
        <a:buFontTx/>
        <a:buNone/>
        <a:tabLst/>
        <a:defRPr b="0" baseline="0" cap="none" i="0" spc="0" strike="noStrike" sz="21100" u="none">
          <a:solidFill>
            <a:srgbClr val="000000"/>
          </a:solidFill>
          <a:uFillTx/>
          <a:latin typeface="Lato Heavy"/>
          <a:ea typeface="Lato Heavy"/>
          <a:cs typeface="Lato Heavy"/>
          <a:sym typeface="Lato Heavy"/>
        </a:defRPr>
      </a:lvl8pPr>
      <a:lvl9pPr marL="0" marR="0" indent="0" algn="l" defTabSz="4389120" rtl="0" latinLnBrk="0">
        <a:lnSpc>
          <a:spcPct val="90000"/>
        </a:lnSpc>
        <a:spcBef>
          <a:spcPts val="0"/>
        </a:spcBef>
        <a:spcAft>
          <a:spcPts val="0"/>
        </a:spcAft>
        <a:buClrTx/>
        <a:buSzTx/>
        <a:buFontTx/>
        <a:buNone/>
        <a:tabLst/>
        <a:defRPr b="0" baseline="0" cap="none" i="0" spc="0" strike="noStrike" sz="21100" u="none">
          <a:solidFill>
            <a:srgbClr val="000000"/>
          </a:solidFill>
          <a:uFillTx/>
          <a:latin typeface="Lato Heavy"/>
          <a:ea typeface="Lato Heavy"/>
          <a:cs typeface="Lato Heavy"/>
          <a:sym typeface="Lato Heavy"/>
        </a:defRPr>
      </a:lvl9pPr>
    </p:titleStyle>
    <p:bodyStyle>
      <a:lvl1pPr marL="1097280" marR="0" indent="-1097280" algn="l" defTabSz="4389120" rtl="0" latinLnBrk="0">
        <a:lnSpc>
          <a:spcPct val="90000"/>
        </a:lnSpc>
        <a:spcBef>
          <a:spcPts val="4800"/>
        </a:spcBef>
        <a:spcAft>
          <a:spcPts val="0"/>
        </a:spcAft>
        <a:buClrTx/>
        <a:buSzPct val="100000"/>
        <a:buFont typeface="Arial"/>
        <a:buChar char="•"/>
        <a:tabLst/>
        <a:defRPr b="0" baseline="0" cap="none" i="0" spc="0" strike="noStrike" sz="13400" u="none">
          <a:solidFill>
            <a:srgbClr val="000000"/>
          </a:solidFill>
          <a:uFillTx/>
          <a:latin typeface="+mj-lt"/>
          <a:ea typeface="+mj-ea"/>
          <a:cs typeface="+mj-cs"/>
          <a:sym typeface="Lato Medium"/>
        </a:defRPr>
      </a:lvl1pPr>
      <a:lvl2pPr marL="3473129" marR="0" indent="-1278569" algn="l" defTabSz="4389120" rtl="0" latinLnBrk="0">
        <a:lnSpc>
          <a:spcPct val="90000"/>
        </a:lnSpc>
        <a:spcBef>
          <a:spcPts val="4800"/>
        </a:spcBef>
        <a:spcAft>
          <a:spcPts val="0"/>
        </a:spcAft>
        <a:buClrTx/>
        <a:buSzPct val="100000"/>
        <a:buFont typeface="Arial"/>
        <a:buChar char="•"/>
        <a:tabLst/>
        <a:defRPr b="0" baseline="0" cap="none" i="0" spc="0" strike="noStrike" sz="13400" u="none">
          <a:solidFill>
            <a:srgbClr val="000000"/>
          </a:solidFill>
          <a:uFillTx/>
          <a:latin typeface="+mj-lt"/>
          <a:ea typeface="+mj-ea"/>
          <a:cs typeface="+mj-cs"/>
          <a:sym typeface="Lato Medium"/>
        </a:defRPr>
      </a:lvl2pPr>
      <a:lvl3pPr marL="5920740" marR="0" indent="-1531620" algn="l" defTabSz="4389120" rtl="0" latinLnBrk="0">
        <a:lnSpc>
          <a:spcPct val="90000"/>
        </a:lnSpc>
        <a:spcBef>
          <a:spcPts val="4800"/>
        </a:spcBef>
        <a:spcAft>
          <a:spcPts val="0"/>
        </a:spcAft>
        <a:buClrTx/>
        <a:buSzPct val="100000"/>
        <a:buFont typeface="Arial"/>
        <a:buChar char="•"/>
        <a:tabLst/>
        <a:defRPr b="0" baseline="0" cap="none" i="0" spc="0" strike="noStrike" sz="13400" u="none">
          <a:solidFill>
            <a:srgbClr val="000000"/>
          </a:solidFill>
          <a:uFillTx/>
          <a:latin typeface="+mj-lt"/>
          <a:ea typeface="+mj-ea"/>
          <a:cs typeface="+mj-cs"/>
          <a:sym typeface="Lato Medium"/>
        </a:defRPr>
      </a:lvl3pPr>
      <a:lvl4pPr marL="8293395" marR="0" indent="-1709715" algn="l" defTabSz="4389120" rtl="0" latinLnBrk="0">
        <a:lnSpc>
          <a:spcPct val="90000"/>
        </a:lnSpc>
        <a:spcBef>
          <a:spcPts val="4800"/>
        </a:spcBef>
        <a:spcAft>
          <a:spcPts val="0"/>
        </a:spcAft>
        <a:buClrTx/>
        <a:buSzPct val="100000"/>
        <a:buFont typeface="Arial"/>
        <a:buChar char="•"/>
        <a:tabLst/>
        <a:defRPr b="0" baseline="0" cap="none" i="0" spc="0" strike="noStrike" sz="13400" u="none">
          <a:solidFill>
            <a:srgbClr val="000000"/>
          </a:solidFill>
          <a:uFillTx/>
          <a:latin typeface="+mj-lt"/>
          <a:ea typeface="+mj-ea"/>
          <a:cs typeface="+mj-cs"/>
          <a:sym typeface="Lato Medium"/>
        </a:defRPr>
      </a:lvl4pPr>
      <a:lvl5pPr marL="10487955" marR="0" indent="-1709715" algn="l" defTabSz="4389120" rtl="0" latinLnBrk="0">
        <a:lnSpc>
          <a:spcPct val="90000"/>
        </a:lnSpc>
        <a:spcBef>
          <a:spcPts val="4800"/>
        </a:spcBef>
        <a:spcAft>
          <a:spcPts val="0"/>
        </a:spcAft>
        <a:buClrTx/>
        <a:buSzPct val="100000"/>
        <a:buFont typeface="Arial"/>
        <a:buChar char="•"/>
        <a:tabLst/>
        <a:defRPr b="0" baseline="0" cap="none" i="0" spc="0" strike="noStrike" sz="13400" u="none">
          <a:solidFill>
            <a:srgbClr val="000000"/>
          </a:solidFill>
          <a:uFillTx/>
          <a:latin typeface="+mj-lt"/>
          <a:ea typeface="+mj-ea"/>
          <a:cs typeface="+mj-cs"/>
          <a:sym typeface="Lato Medium"/>
        </a:defRPr>
      </a:lvl5pPr>
      <a:lvl6pPr marL="12682515" marR="0" indent="-1709715" algn="l" defTabSz="4389120" rtl="0" latinLnBrk="0">
        <a:lnSpc>
          <a:spcPct val="90000"/>
        </a:lnSpc>
        <a:spcBef>
          <a:spcPts val="4800"/>
        </a:spcBef>
        <a:spcAft>
          <a:spcPts val="0"/>
        </a:spcAft>
        <a:buClrTx/>
        <a:buSzPct val="100000"/>
        <a:buFont typeface="Arial"/>
        <a:buChar char="•"/>
        <a:tabLst/>
        <a:defRPr b="0" baseline="0" cap="none" i="0" spc="0" strike="noStrike" sz="13400" u="none">
          <a:solidFill>
            <a:srgbClr val="000000"/>
          </a:solidFill>
          <a:uFillTx/>
          <a:latin typeface="+mj-lt"/>
          <a:ea typeface="+mj-ea"/>
          <a:cs typeface="+mj-cs"/>
          <a:sym typeface="Lato Medium"/>
        </a:defRPr>
      </a:lvl6pPr>
      <a:lvl7pPr marL="14877074" marR="0" indent="-1709715" algn="l" defTabSz="4389120" rtl="0" latinLnBrk="0">
        <a:lnSpc>
          <a:spcPct val="90000"/>
        </a:lnSpc>
        <a:spcBef>
          <a:spcPts val="4800"/>
        </a:spcBef>
        <a:spcAft>
          <a:spcPts val="0"/>
        </a:spcAft>
        <a:buClrTx/>
        <a:buSzPct val="100000"/>
        <a:buFont typeface="Arial"/>
        <a:buChar char="•"/>
        <a:tabLst/>
        <a:defRPr b="0" baseline="0" cap="none" i="0" spc="0" strike="noStrike" sz="13400" u="none">
          <a:solidFill>
            <a:srgbClr val="000000"/>
          </a:solidFill>
          <a:uFillTx/>
          <a:latin typeface="+mj-lt"/>
          <a:ea typeface="+mj-ea"/>
          <a:cs typeface="+mj-cs"/>
          <a:sym typeface="Lato Medium"/>
        </a:defRPr>
      </a:lvl7pPr>
      <a:lvl8pPr marL="17071635" marR="0" indent="-1709715" algn="l" defTabSz="4389120" rtl="0" latinLnBrk="0">
        <a:lnSpc>
          <a:spcPct val="90000"/>
        </a:lnSpc>
        <a:spcBef>
          <a:spcPts val="4800"/>
        </a:spcBef>
        <a:spcAft>
          <a:spcPts val="0"/>
        </a:spcAft>
        <a:buClrTx/>
        <a:buSzPct val="100000"/>
        <a:buFont typeface="Arial"/>
        <a:buChar char="•"/>
        <a:tabLst/>
        <a:defRPr b="0" baseline="0" cap="none" i="0" spc="0" strike="noStrike" sz="13400" u="none">
          <a:solidFill>
            <a:srgbClr val="000000"/>
          </a:solidFill>
          <a:uFillTx/>
          <a:latin typeface="+mj-lt"/>
          <a:ea typeface="+mj-ea"/>
          <a:cs typeface="+mj-cs"/>
          <a:sym typeface="Lato Medium"/>
        </a:defRPr>
      </a:lvl8pPr>
      <a:lvl9pPr marL="19266196" marR="0" indent="-1709715" algn="l" defTabSz="4389120" rtl="0" latinLnBrk="0">
        <a:lnSpc>
          <a:spcPct val="90000"/>
        </a:lnSpc>
        <a:spcBef>
          <a:spcPts val="4800"/>
        </a:spcBef>
        <a:spcAft>
          <a:spcPts val="0"/>
        </a:spcAft>
        <a:buClrTx/>
        <a:buSzPct val="100000"/>
        <a:buFont typeface="Arial"/>
        <a:buChar char="•"/>
        <a:tabLst/>
        <a:defRPr b="0" baseline="0" cap="none" i="0" spc="0" strike="noStrike" sz="13400" u="none">
          <a:solidFill>
            <a:srgbClr val="000000"/>
          </a:solidFill>
          <a:uFillTx/>
          <a:latin typeface="+mj-lt"/>
          <a:ea typeface="+mj-ea"/>
          <a:cs typeface="+mj-cs"/>
          <a:sym typeface="Lato Medium"/>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5700" u="none">
          <a:solidFill>
            <a:schemeClr val="tx1"/>
          </a:solidFill>
          <a:uFillTx/>
          <a:latin typeface="+mn-lt"/>
          <a:ea typeface="+mn-ea"/>
          <a:cs typeface="+mn-cs"/>
          <a:sym typeface="Lato Medium"/>
        </a:defRPr>
      </a:lvl1pPr>
      <a:lvl2pPr marL="0" marR="0" indent="457200" algn="r" defTabSz="457200" rtl="0" latinLnBrk="0">
        <a:lnSpc>
          <a:spcPct val="100000"/>
        </a:lnSpc>
        <a:spcBef>
          <a:spcPts val="0"/>
        </a:spcBef>
        <a:spcAft>
          <a:spcPts val="0"/>
        </a:spcAft>
        <a:buClrTx/>
        <a:buSzTx/>
        <a:buFontTx/>
        <a:buNone/>
        <a:tabLst/>
        <a:defRPr b="0" baseline="0" cap="none" i="0" spc="0" strike="noStrike" sz="5700" u="none">
          <a:solidFill>
            <a:schemeClr val="tx1"/>
          </a:solidFill>
          <a:uFillTx/>
          <a:latin typeface="+mn-lt"/>
          <a:ea typeface="+mn-ea"/>
          <a:cs typeface="+mn-cs"/>
          <a:sym typeface="Lato Medium"/>
        </a:defRPr>
      </a:lvl2pPr>
      <a:lvl3pPr marL="0" marR="0" indent="914400" algn="r" defTabSz="457200" rtl="0" latinLnBrk="0">
        <a:lnSpc>
          <a:spcPct val="100000"/>
        </a:lnSpc>
        <a:spcBef>
          <a:spcPts val="0"/>
        </a:spcBef>
        <a:spcAft>
          <a:spcPts val="0"/>
        </a:spcAft>
        <a:buClrTx/>
        <a:buSzTx/>
        <a:buFontTx/>
        <a:buNone/>
        <a:tabLst/>
        <a:defRPr b="0" baseline="0" cap="none" i="0" spc="0" strike="noStrike" sz="5700" u="none">
          <a:solidFill>
            <a:schemeClr val="tx1"/>
          </a:solidFill>
          <a:uFillTx/>
          <a:latin typeface="+mn-lt"/>
          <a:ea typeface="+mn-ea"/>
          <a:cs typeface="+mn-cs"/>
          <a:sym typeface="Lato Medium"/>
        </a:defRPr>
      </a:lvl3pPr>
      <a:lvl4pPr marL="0" marR="0" indent="1371600" algn="r" defTabSz="457200" rtl="0" latinLnBrk="0">
        <a:lnSpc>
          <a:spcPct val="100000"/>
        </a:lnSpc>
        <a:spcBef>
          <a:spcPts val="0"/>
        </a:spcBef>
        <a:spcAft>
          <a:spcPts val="0"/>
        </a:spcAft>
        <a:buClrTx/>
        <a:buSzTx/>
        <a:buFontTx/>
        <a:buNone/>
        <a:tabLst/>
        <a:defRPr b="0" baseline="0" cap="none" i="0" spc="0" strike="noStrike" sz="5700" u="none">
          <a:solidFill>
            <a:schemeClr val="tx1"/>
          </a:solidFill>
          <a:uFillTx/>
          <a:latin typeface="+mn-lt"/>
          <a:ea typeface="+mn-ea"/>
          <a:cs typeface="+mn-cs"/>
          <a:sym typeface="Lato Medium"/>
        </a:defRPr>
      </a:lvl4pPr>
      <a:lvl5pPr marL="0" marR="0" indent="1828800" algn="r" defTabSz="457200" rtl="0" latinLnBrk="0">
        <a:lnSpc>
          <a:spcPct val="100000"/>
        </a:lnSpc>
        <a:spcBef>
          <a:spcPts val="0"/>
        </a:spcBef>
        <a:spcAft>
          <a:spcPts val="0"/>
        </a:spcAft>
        <a:buClrTx/>
        <a:buSzTx/>
        <a:buFontTx/>
        <a:buNone/>
        <a:tabLst/>
        <a:defRPr b="0" baseline="0" cap="none" i="0" spc="0" strike="noStrike" sz="5700" u="none">
          <a:solidFill>
            <a:schemeClr val="tx1"/>
          </a:solidFill>
          <a:uFillTx/>
          <a:latin typeface="+mn-lt"/>
          <a:ea typeface="+mn-ea"/>
          <a:cs typeface="+mn-cs"/>
          <a:sym typeface="Lato Medium"/>
        </a:defRPr>
      </a:lvl5pPr>
      <a:lvl6pPr marL="0" marR="0" indent="2286000" algn="r" defTabSz="457200" rtl="0" latinLnBrk="0">
        <a:lnSpc>
          <a:spcPct val="100000"/>
        </a:lnSpc>
        <a:spcBef>
          <a:spcPts val="0"/>
        </a:spcBef>
        <a:spcAft>
          <a:spcPts val="0"/>
        </a:spcAft>
        <a:buClrTx/>
        <a:buSzTx/>
        <a:buFontTx/>
        <a:buNone/>
        <a:tabLst/>
        <a:defRPr b="0" baseline="0" cap="none" i="0" spc="0" strike="noStrike" sz="5700" u="none">
          <a:solidFill>
            <a:schemeClr val="tx1"/>
          </a:solidFill>
          <a:uFillTx/>
          <a:latin typeface="+mn-lt"/>
          <a:ea typeface="+mn-ea"/>
          <a:cs typeface="+mn-cs"/>
          <a:sym typeface="Lato Medium"/>
        </a:defRPr>
      </a:lvl6pPr>
      <a:lvl7pPr marL="0" marR="0" indent="2743200" algn="r" defTabSz="457200" rtl="0" latinLnBrk="0">
        <a:lnSpc>
          <a:spcPct val="100000"/>
        </a:lnSpc>
        <a:spcBef>
          <a:spcPts val="0"/>
        </a:spcBef>
        <a:spcAft>
          <a:spcPts val="0"/>
        </a:spcAft>
        <a:buClrTx/>
        <a:buSzTx/>
        <a:buFontTx/>
        <a:buNone/>
        <a:tabLst/>
        <a:defRPr b="0" baseline="0" cap="none" i="0" spc="0" strike="noStrike" sz="5700" u="none">
          <a:solidFill>
            <a:schemeClr val="tx1"/>
          </a:solidFill>
          <a:uFillTx/>
          <a:latin typeface="+mn-lt"/>
          <a:ea typeface="+mn-ea"/>
          <a:cs typeface="+mn-cs"/>
          <a:sym typeface="Lato Medium"/>
        </a:defRPr>
      </a:lvl7pPr>
      <a:lvl8pPr marL="0" marR="0" indent="3200400" algn="r" defTabSz="457200" rtl="0" latinLnBrk="0">
        <a:lnSpc>
          <a:spcPct val="100000"/>
        </a:lnSpc>
        <a:spcBef>
          <a:spcPts val="0"/>
        </a:spcBef>
        <a:spcAft>
          <a:spcPts val="0"/>
        </a:spcAft>
        <a:buClrTx/>
        <a:buSzTx/>
        <a:buFontTx/>
        <a:buNone/>
        <a:tabLst/>
        <a:defRPr b="0" baseline="0" cap="none" i="0" spc="0" strike="noStrike" sz="5700" u="none">
          <a:solidFill>
            <a:schemeClr val="tx1"/>
          </a:solidFill>
          <a:uFillTx/>
          <a:latin typeface="+mn-lt"/>
          <a:ea typeface="+mn-ea"/>
          <a:cs typeface="+mn-cs"/>
          <a:sym typeface="Lato Medium"/>
        </a:defRPr>
      </a:lvl8pPr>
      <a:lvl9pPr marL="0" marR="0" indent="3657600" algn="r" defTabSz="457200" rtl="0" latinLnBrk="0">
        <a:lnSpc>
          <a:spcPct val="100000"/>
        </a:lnSpc>
        <a:spcBef>
          <a:spcPts val="0"/>
        </a:spcBef>
        <a:spcAft>
          <a:spcPts val="0"/>
        </a:spcAft>
        <a:buClrTx/>
        <a:buSzTx/>
        <a:buFontTx/>
        <a:buNone/>
        <a:tabLst/>
        <a:defRPr b="0" baseline="0" cap="none" i="0" spc="0" strike="noStrike" sz="5700" u="none">
          <a:solidFill>
            <a:schemeClr val="tx1"/>
          </a:solidFill>
          <a:uFillTx/>
          <a:latin typeface="+mn-lt"/>
          <a:ea typeface="+mn-ea"/>
          <a:cs typeface="+mn-cs"/>
          <a:sym typeface="Lato Medium"/>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medcom.med.wayne.edu/faqs" TargetMode="External"/><Relationship Id="rId3" Type="http://schemas.openxmlformats.org/officeDocument/2006/relationships/hyperlink" Target="https://fonts.google.com/specimen/Lato" TargetMode="External"/><Relationship Id="rId4" Type="http://schemas.openxmlformats.org/officeDocument/2006/relationships/hyperlink" Target="https://medcom.med.wayne.edu/creating-accessible-design" TargetMode="External"/><Relationship Id="rId5" Type="http://schemas.openxmlformats.org/officeDocument/2006/relationships/chart" Target="../charts/chart1.xml"/><Relationship Id="rId6" Type="http://schemas.openxmlformats.org/officeDocument/2006/relationships/hyperlink" Target="mailto:medcom@med.wayne.edu" TargetMode="External"/><Relationship Id="rId7" Type="http://schemas.openxmlformats.org/officeDocument/2006/relationships/image" Target="../media/image1.png"/><Relationship Id="rId8" Type="http://schemas.openxmlformats.org/officeDocument/2006/relationships/image" Target="../media/image4.png"/><Relationship Id="rId9" Type="http://schemas.openxmlformats.org/officeDocument/2006/relationships/image" Target="../media/image5.png"/><Relationship Id="rId10" Type="http://schemas.openxmlformats.org/officeDocument/2006/relationships/image" Target="../media/image6.png"/><Relationship Id="rId11" Type="http://schemas.openxmlformats.org/officeDocument/2006/relationships/image" Target="../media/image2.jpeg"/><Relationship Id="rId12"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30" name="Rectangle 20"/>
          <p:cNvGrpSpPr/>
          <p:nvPr/>
        </p:nvGrpSpPr>
        <p:grpSpPr>
          <a:xfrm>
            <a:off x="494412" y="7745438"/>
            <a:ext cx="14036041" cy="1219201"/>
            <a:chOff x="0" y="0"/>
            <a:chExt cx="14036039" cy="1219200"/>
          </a:xfrm>
        </p:grpSpPr>
        <p:sp>
          <p:nvSpPr>
            <p:cNvPr id="28" name="Rectangle"/>
            <p:cNvSpPr/>
            <p:nvPr/>
          </p:nvSpPr>
          <p:spPr>
            <a:xfrm>
              <a:off x="-1" y="0"/>
              <a:ext cx="14036041" cy="1219200"/>
            </a:xfrm>
            <a:prstGeom prst="rect">
              <a:avLst/>
            </a:prstGeom>
            <a:gradFill flip="none" rotWithShape="1">
              <a:gsLst>
                <a:gs pos="16000">
                  <a:srgbClr val="3D7A67"/>
                </a:gs>
                <a:gs pos="100000">
                  <a:srgbClr val="093F39"/>
                </a:gs>
              </a:gsLst>
              <a:lin ang="18900000" scaled="0"/>
            </a:gradFill>
            <a:ln w="12700" cap="flat">
              <a:noFill/>
              <a:miter lim="400000"/>
            </a:ln>
            <a:effectLst/>
          </p:spPr>
          <p:txBody>
            <a:bodyPr wrap="square" lIns="45719" tIns="45719" rIns="45719" bIns="45719" numCol="1" anchor="ctr">
              <a:noAutofit/>
            </a:bodyPr>
            <a:lstStyle/>
            <a:p>
              <a:pPr algn="ctr" defTabSz="3224526"/>
            </a:p>
          </p:txBody>
        </p:sp>
        <p:sp>
          <p:nvSpPr>
            <p:cNvPr id="29" name="Introduction"/>
            <p:cNvSpPr txBox="1"/>
            <p:nvPr/>
          </p:nvSpPr>
          <p:spPr>
            <a:xfrm>
              <a:off x="5184570" y="191803"/>
              <a:ext cx="3666899" cy="83559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9496" tIns="49496" rIns="49496" bIns="49496" numCol="1" anchor="ctr">
              <a:spAutoFit/>
            </a:bodyPr>
            <a:lstStyle>
              <a:lvl1pPr algn="ctr" defTabSz="3224526">
                <a:defRPr b="1" sz="4800">
                  <a:solidFill>
                    <a:srgbClr val="FFFFFF"/>
                  </a:solidFill>
                </a:defRPr>
              </a:lvl1pPr>
            </a:lstStyle>
            <a:p>
              <a:pPr/>
              <a:r>
                <a:t>Introduction</a:t>
              </a:r>
            </a:p>
          </p:txBody>
        </p:sp>
      </p:grpSp>
      <p:grpSp>
        <p:nvGrpSpPr>
          <p:cNvPr id="33" name="Rectangle 22"/>
          <p:cNvGrpSpPr/>
          <p:nvPr/>
        </p:nvGrpSpPr>
        <p:grpSpPr>
          <a:xfrm>
            <a:off x="494412" y="15849600"/>
            <a:ext cx="14036041" cy="1219201"/>
            <a:chOff x="0" y="0"/>
            <a:chExt cx="14036039" cy="1219200"/>
          </a:xfrm>
        </p:grpSpPr>
        <p:sp>
          <p:nvSpPr>
            <p:cNvPr id="31" name="Rectangle"/>
            <p:cNvSpPr/>
            <p:nvPr/>
          </p:nvSpPr>
          <p:spPr>
            <a:xfrm>
              <a:off x="-1" y="0"/>
              <a:ext cx="14036041" cy="1219200"/>
            </a:xfrm>
            <a:prstGeom prst="rect">
              <a:avLst/>
            </a:prstGeom>
            <a:gradFill flip="none" rotWithShape="1">
              <a:gsLst>
                <a:gs pos="16000">
                  <a:srgbClr val="3D7A67"/>
                </a:gs>
                <a:gs pos="100000">
                  <a:srgbClr val="093F39"/>
                </a:gs>
              </a:gsLst>
              <a:lin ang="18900000" scaled="0"/>
            </a:gradFill>
            <a:ln w="12700" cap="flat">
              <a:noFill/>
              <a:miter lim="400000"/>
            </a:ln>
            <a:effectLst/>
          </p:spPr>
          <p:txBody>
            <a:bodyPr wrap="square" lIns="45719" tIns="45719" rIns="45719" bIns="45719" numCol="1" anchor="ctr">
              <a:noAutofit/>
            </a:bodyPr>
            <a:lstStyle/>
            <a:p>
              <a:pPr algn="ctr" defTabSz="3224526"/>
            </a:p>
          </p:txBody>
        </p:sp>
        <p:sp>
          <p:nvSpPr>
            <p:cNvPr id="32" name="Methods"/>
            <p:cNvSpPr txBox="1"/>
            <p:nvPr/>
          </p:nvSpPr>
          <p:spPr>
            <a:xfrm>
              <a:off x="5709189" y="191803"/>
              <a:ext cx="2617661" cy="83559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9496" tIns="49496" rIns="49496" bIns="49496" numCol="1" anchor="ctr">
              <a:spAutoFit/>
            </a:bodyPr>
            <a:lstStyle>
              <a:lvl1pPr algn="ctr" defTabSz="3224526">
                <a:defRPr b="1" sz="4800">
                  <a:solidFill>
                    <a:srgbClr val="FFFFFF"/>
                  </a:solidFill>
                </a:defRPr>
              </a:lvl1pPr>
            </a:lstStyle>
            <a:p>
              <a:pPr/>
              <a:r>
                <a:t>Methods</a:t>
              </a:r>
            </a:p>
          </p:txBody>
        </p:sp>
      </p:grpSp>
      <p:grpSp>
        <p:nvGrpSpPr>
          <p:cNvPr id="36" name="Rectangle 24"/>
          <p:cNvGrpSpPr/>
          <p:nvPr/>
        </p:nvGrpSpPr>
        <p:grpSpPr>
          <a:xfrm>
            <a:off x="14920785" y="7745438"/>
            <a:ext cx="14036040" cy="1219201"/>
            <a:chOff x="0" y="0"/>
            <a:chExt cx="14036039" cy="1219200"/>
          </a:xfrm>
        </p:grpSpPr>
        <p:sp>
          <p:nvSpPr>
            <p:cNvPr id="34" name="Rectangle"/>
            <p:cNvSpPr/>
            <p:nvPr/>
          </p:nvSpPr>
          <p:spPr>
            <a:xfrm>
              <a:off x="-1" y="0"/>
              <a:ext cx="14036041" cy="1219200"/>
            </a:xfrm>
            <a:prstGeom prst="rect">
              <a:avLst/>
            </a:prstGeom>
            <a:gradFill flip="none" rotWithShape="1">
              <a:gsLst>
                <a:gs pos="16000">
                  <a:srgbClr val="3D7A67"/>
                </a:gs>
                <a:gs pos="100000">
                  <a:srgbClr val="093F39"/>
                </a:gs>
              </a:gsLst>
              <a:lin ang="18900000" scaled="0"/>
            </a:gradFill>
            <a:ln w="12700" cap="flat">
              <a:noFill/>
              <a:miter lim="400000"/>
            </a:ln>
            <a:effectLst/>
          </p:spPr>
          <p:txBody>
            <a:bodyPr wrap="square" lIns="45719" tIns="45719" rIns="45719" bIns="45719" numCol="1" anchor="ctr">
              <a:noAutofit/>
            </a:bodyPr>
            <a:lstStyle/>
            <a:p>
              <a:pPr algn="ctr" defTabSz="3224526"/>
            </a:p>
          </p:txBody>
        </p:sp>
        <p:sp>
          <p:nvSpPr>
            <p:cNvPr id="35" name="Results"/>
            <p:cNvSpPr txBox="1"/>
            <p:nvPr/>
          </p:nvSpPr>
          <p:spPr>
            <a:xfrm>
              <a:off x="5861143" y="191803"/>
              <a:ext cx="2313754" cy="83559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9496" tIns="49496" rIns="49496" bIns="49496" numCol="1" anchor="ctr">
              <a:spAutoFit/>
            </a:bodyPr>
            <a:lstStyle>
              <a:lvl1pPr algn="ctr" defTabSz="3224526">
                <a:defRPr b="1" sz="4800">
                  <a:solidFill>
                    <a:srgbClr val="FFFFFF"/>
                  </a:solidFill>
                </a:defRPr>
              </a:lvl1pPr>
            </a:lstStyle>
            <a:p>
              <a:pPr/>
              <a:r>
                <a:t>Results</a:t>
              </a:r>
            </a:p>
          </p:txBody>
        </p:sp>
      </p:grpSp>
      <p:grpSp>
        <p:nvGrpSpPr>
          <p:cNvPr id="39" name="Rectangle 25"/>
          <p:cNvGrpSpPr/>
          <p:nvPr/>
        </p:nvGrpSpPr>
        <p:grpSpPr>
          <a:xfrm>
            <a:off x="14920785" y="23785776"/>
            <a:ext cx="14036040" cy="1219201"/>
            <a:chOff x="0" y="0"/>
            <a:chExt cx="14036039" cy="1219200"/>
          </a:xfrm>
        </p:grpSpPr>
        <p:sp>
          <p:nvSpPr>
            <p:cNvPr id="37" name="Rectangle"/>
            <p:cNvSpPr/>
            <p:nvPr/>
          </p:nvSpPr>
          <p:spPr>
            <a:xfrm>
              <a:off x="-1" y="0"/>
              <a:ext cx="14036041" cy="1219200"/>
            </a:xfrm>
            <a:prstGeom prst="rect">
              <a:avLst/>
            </a:prstGeom>
            <a:gradFill flip="none" rotWithShape="1">
              <a:gsLst>
                <a:gs pos="16000">
                  <a:srgbClr val="3D7A67"/>
                </a:gs>
                <a:gs pos="100000">
                  <a:srgbClr val="093F39"/>
                </a:gs>
              </a:gsLst>
              <a:lin ang="18900000" scaled="0"/>
            </a:gradFill>
            <a:ln w="12700" cap="flat">
              <a:noFill/>
              <a:miter lim="400000"/>
            </a:ln>
            <a:effectLst/>
          </p:spPr>
          <p:txBody>
            <a:bodyPr wrap="square" lIns="45719" tIns="45719" rIns="45719" bIns="45719" numCol="1" anchor="ctr">
              <a:noAutofit/>
            </a:bodyPr>
            <a:lstStyle/>
            <a:p>
              <a:pPr algn="ctr" defTabSz="3224526"/>
            </a:p>
          </p:txBody>
        </p:sp>
        <p:sp>
          <p:nvSpPr>
            <p:cNvPr id="38" name="Conclusion"/>
            <p:cNvSpPr txBox="1"/>
            <p:nvPr/>
          </p:nvSpPr>
          <p:spPr>
            <a:xfrm>
              <a:off x="5302740" y="191803"/>
              <a:ext cx="3430560" cy="83559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9496" tIns="49496" rIns="49496" bIns="49496" numCol="1" anchor="ctr">
              <a:spAutoFit/>
            </a:bodyPr>
            <a:lstStyle>
              <a:lvl1pPr algn="ctr" defTabSz="3224526">
                <a:defRPr b="1" sz="4800">
                  <a:solidFill>
                    <a:srgbClr val="FFFFFF"/>
                  </a:solidFill>
                </a:defRPr>
              </a:lvl1pPr>
            </a:lstStyle>
            <a:p>
              <a:pPr/>
              <a:r>
                <a:t>Conclusion</a:t>
              </a:r>
            </a:p>
          </p:txBody>
        </p:sp>
      </p:grpSp>
      <p:sp>
        <p:nvSpPr>
          <p:cNvPr id="40" name="Title 8"/>
          <p:cNvSpPr txBox="1"/>
          <p:nvPr/>
        </p:nvSpPr>
        <p:spPr>
          <a:xfrm>
            <a:off x="9748519" y="1033705"/>
            <a:ext cx="33443820" cy="251979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defTabSz="4389120">
              <a:lnSpc>
                <a:spcPct val="90000"/>
              </a:lnSpc>
              <a:defRPr sz="8800">
                <a:solidFill>
                  <a:srgbClr val="FFFFFF"/>
                </a:solidFill>
                <a:latin typeface="Arial"/>
                <a:ea typeface="Arial"/>
                <a:cs typeface="Arial"/>
                <a:sym typeface="Arial"/>
              </a:defRPr>
            </a:lvl1pPr>
          </a:lstStyle>
          <a:p>
            <a:pPr/>
            <a:r>
              <a:t>Estimating the Relationship Between Drug Use and Major Depressive Episodes Among Youth</a:t>
            </a:r>
          </a:p>
        </p:txBody>
      </p:sp>
      <p:sp>
        <p:nvSpPr>
          <p:cNvPr id="41" name="Subtitle 9"/>
          <p:cNvSpPr txBox="1"/>
          <p:nvPr/>
        </p:nvSpPr>
        <p:spPr>
          <a:xfrm>
            <a:off x="9748521" y="4168592"/>
            <a:ext cx="33443817" cy="1567308"/>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defTabSz="4389120">
              <a:lnSpc>
                <a:spcPct val="90000"/>
              </a:lnSpc>
              <a:defRPr sz="5400">
                <a:solidFill>
                  <a:srgbClr val="FFFFFF"/>
                </a:solidFill>
                <a:latin typeface="Arial"/>
                <a:ea typeface="Arial"/>
                <a:cs typeface="Arial"/>
                <a:sym typeface="Arial"/>
              </a:defRPr>
            </a:pPr>
            <a:r>
              <a:t>Keele J. Thomas, Master of Public Health Candidate</a:t>
            </a:r>
            <a:endParaRPr sz="13400"/>
          </a:p>
          <a:p>
            <a:pPr algn="ctr" defTabSz="4389120">
              <a:lnSpc>
                <a:spcPct val="90000"/>
              </a:lnSpc>
              <a:defRPr sz="5400">
                <a:solidFill>
                  <a:srgbClr val="FFFFFF"/>
                </a:solidFill>
                <a:latin typeface="Arial"/>
                <a:ea typeface="Arial"/>
                <a:cs typeface="Arial"/>
                <a:sym typeface="Arial"/>
              </a:defRPr>
            </a:pPr>
            <a:r>
              <a:t>Samantha J. Bauer, PhD, Assistant Professor, Department of Family Medicine and Public Health Sciences</a:t>
            </a:r>
          </a:p>
        </p:txBody>
      </p:sp>
      <p:sp>
        <p:nvSpPr>
          <p:cNvPr id="42" name="TextBox 13"/>
          <p:cNvSpPr txBox="1"/>
          <p:nvPr/>
        </p:nvSpPr>
        <p:spPr>
          <a:xfrm>
            <a:off x="852552" y="9845884"/>
            <a:ext cx="13319761" cy="47771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1600"/>
              </a:spcBef>
              <a:defRPr sz="3200">
                <a:latin typeface="Arial"/>
                <a:ea typeface="Arial"/>
                <a:cs typeface="Arial"/>
                <a:sym typeface="Arial"/>
              </a:defRPr>
            </a:pPr>
            <a:r>
              <a:t>This study estimates the relationship between drug use history and the lifetime prevalence of a Major Depressive Episode (MDE) among US adolescents aged 12-17, utilizing data from the National Survey on Drug Use and Health (NSDUH). Adolescence is a critical period characterized by increased risk for both substance use initiation and the onset of mood disorders.¹</a:t>
            </a:r>
            <a:r>
              <a:rPr baseline="31999"/>
              <a:t>,</a:t>
            </a:r>
            <a:r>
              <a:t>²</a:t>
            </a:r>
            <a:r>
              <a:rPr baseline="31999"/>
              <a:t>,</a:t>
            </a:r>
            <a:r>
              <a:t>³ This study aims to disaggregate drug use into cultural categories—“soft” versus “hard” drugs—to determine if the type of substance use differentially predicts MDE status in this specific age group, thereby providing nuanced evidence for targeted early intervention strategies.</a:t>
            </a:r>
          </a:p>
        </p:txBody>
      </p:sp>
      <p:sp>
        <p:nvSpPr>
          <p:cNvPr id="43" name="TextBox 15"/>
          <p:cNvSpPr txBox="1"/>
          <p:nvPr/>
        </p:nvSpPr>
        <p:spPr>
          <a:xfrm>
            <a:off x="817875" y="17629275"/>
            <a:ext cx="13319761" cy="947614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3200">
                <a:latin typeface="Arial"/>
                <a:ea typeface="Arial"/>
                <a:cs typeface="Arial"/>
                <a:sym typeface="Arial"/>
              </a:defRPr>
            </a:pPr>
            <a:r>
              <a:t>This study employs a cross-sectional, secondary data analysis of the NSDUH public-use data file. The sample is restricted to youth only, defined as respondents aged 12-17 who completed the survey’s adolescent section. The primary outcome variable is the self-reported, lifetime MDE, as defined by the NSDUH based on DSM-5 criteria. The primary predictor variables are constructed from lifetime “ever tried” responses for specific substances, categorized as:</a:t>
            </a:r>
          </a:p>
          <a:p>
            <a:pPr lvl="1" marL="685800" indent="-228600">
              <a:buSzPct val="100000"/>
              <a:buChar char="•"/>
              <a:defRPr sz="3200">
                <a:latin typeface="Arial"/>
                <a:ea typeface="Arial"/>
                <a:cs typeface="Arial"/>
                <a:sym typeface="Arial"/>
              </a:defRPr>
            </a:pPr>
            <a:r>
              <a:t>“Soft” Drugs: Alcohol, Nicotine (cigarettes, cigars, vaping, smokeless tobacco, etc.), Marijuana and CBD/Hemp. </a:t>
            </a:r>
          </a:p>
          <a:p>
            <a:pPr lvl="1" marL="685800" indent="-228600">
              <a:buSzPct val="100000"/>
              <a:buChar char="•"/>
              <a:defRPr sz="3200">
                <a:latin typeface="Arial"/>
                <a:ea typeface="Arial"/>
                <a:cs typeface="Arial"/>
                <a:sym typeface="Arial"/>
              </a:defRPr>
            </a:pPr>
            <a:r>
              <a:t>“Hard” Drugs: Cocaine, Crack, Methamphetamine, Heroin, Hallucinogenics, Inhalants, and non-medical use of prescription drugs (e.g. pain relievers, tranquilizers).</a:t>
            </a:r>
          </a:p>
          <a:p>
            <a:pPr lvl="1" marL="685800" indent="-228600">
              <a:buSzPct val="100000"/>
              <a:buChar char="•"/>
              <a:defRPr sz="3200">
                <a:latin typeface="Arial"/>
                <a:ea typeface="Arial"/>
                <a:cs typeface="Arial"/>
                <a:sym typeface="Arial"/>
              </a:defRPr>
            </a:pPr>
            <a:r>
              <a:t>Any Drug Use: A binary variable indicating the use of any substance in either category. </a:t>
            </a:r>
          </a:p>
          <a:p>
            <a:pPr>
              <a:defRPr sz="3200">
                <a:latin typeface="Arial"/>
                <a:ea typeface="Arial"/>
                <a:cs typeface="Arial"/>
                <a:sym typeface="Arial"/>
              </a:defRPr>
            </a:pPr>
            <a:r>
              <a:t>Logistic regression models were used to estimate the odds ratios (OR) for the association between each drug use category (any, soft, and hard) and the likelihood of reporting a lifetime MDE, controlling for relevant demographic/confounding? variables (e.g., sex, age, race, etc.). </a:t>
            </a:r>
          </a:p>
        </p:txBody>
      </p:sp>
      <p:sp>
        <p:nvSpPr>
          <p:cNvPr id="44" name="TextBox 16"/>
          <p:cNvSpPr txBox="1"/>
          <p:nvPr/>
        </p:nvSpPr>
        <p:spPr>
          <a:xfrm>
            <a:off x="29631639" y="29366520"/>
            <a:ext cx="13319761" cy="311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1600"/>
              </a:spcBef>
              <a:defRPr sz="2800"/>
            </a:lvl1pPr>
          </a:lstStyle>
          <a:p>
            <a:pPr>
              <a:defRPr b="1" i="1"/>
            </a:pPr>
            <a:r>
              <a:rPr b="0" i="0"/>
              <a:t>I extend my deepest gratitude and sincere appreciation to Dr. Samantha Bauer for her unwavering support and guidance throughout this research experience. Her role extended far beyond that of a typical advisor; she has been an exceptional source of kindness and understanding. Her encouragement was instrumental in navigating the HSDUH data and the complex statistical analysis. Dr. Bauer’s support and insightful feedback were crucial to the completion of this study, and I am truly thankful for her dedication to my academic growth. </a:t>
            </a:r>
          </a:p>
        </p:txBody>
      </p:sp>
      <p:grpSp>
        <p:nvGrpSpPr>
          <p:cNvPr id="47" name="Rectangle 21"/>
          <p:cNvGrpSpPr/>
          <p:nvPr/>
        </p:nvGrpSpPr>
        <p:grpSpPr>
          <a:xfrm>
            <a:off x="29360747" y="27787088"/>
            <a:ext cx="14036040" cy="1219201"/>
            <a:chOff x="0" y="0"/>
            <a:chExt cx="14036039" cy="1219200"/>
          </a:xfrm>
        </p:grpSpPr>
        <p:sp>
          <p:nvSpPr>
            <p:cNvPr id="45" name="Rectangle"/>
            <p:cNvSpPr/>
            <p:nvPr/>
          </p:nvSpPr>
          <p:spPr>
            <a:xfrm>
              <a:off x="-1" y="0"/>
              <a:ext cx="14036041" cy="1219200"/>
            </a:xfrm>
            <a:prstGeom prst="rect">
              <a:avLst/>
            </a:prstGeom>
            <a:solidFill>
              <a:srgbClr val="D9D9D9"/>
            </a:solidFill>
            <a:ln w="12700" cap="flat">
              <a:noFill/>
              <a:miter lim="400000"/>
            </a:ln>
            <a:effectLst/>
          </p:spPr>
          <p:txBody>
            <a:bodyPr wrap="square" lIns="45719" tIns="45719" rIns="45719" bIns="45719" numCol="1" anchor="ctr">
              <a:noAutofit/>
            </a:bodyPr>
            <a:lstStyle/>
            <a:p>
              <a:pPr algn="ctr" defTabSz="3224526"/>
            </a:p>
          </p:txBody>
        </p:sp>
        <p:sp>
          <p:nvSpPr>
            <p:cNvPr id="46" name="Acknowledgments"/>
            <p:cNvSpPr txBox="1"/>
            <p:nvPr/>
          </p:nvSpPr>
          <p:spPr>
            <a:xfrm>
              <a:off x="4184594" y="191803"/>
              <a:ext cx="5666851" cy="83559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9496" tIns="49496" rIns="49496" bIns="49496" numCol="1" anchor="ctr">
              <a:spAutoFit/>
            </a:bodyPr>
            <a:lstStyle>
              <a:lvl1pPr algn="ctr" defTabSz="3224526">
                <a:defRPr b="1" sz="4800">
                  <a:solidFill>
                    <a:srgbClr val="093F39"/>
                  </a:solidFill>
                </a:defRPr>
              </a:lvl1pPr>
            </a:lstStyle>
            <a:p>
              <a:pPr/>
              <a:r>
                <a:t>Acknowledgments </a:t>
              </a:r>
            </a:p>
          </p:txBody>
        </p:sp>
      </p:grpSp>
      <p:sp>
        <p:nvSpPr>
          <p:cNvPr id="48" name="TextBox 53"/>
          <p:cNvSpPr txBox="1"/>
          <p:nvPr/>
        </p:nvSpPr>
        <p:spPr>
          <a:xfrm>
            <a:off x="15187645" y="25998710"/>
            <a:ext cx="13522962" cy="3469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1600"/>
              </a:spcBef>
              <a:defRPr sz="3200"/>
            </a:pPr>
            <a:r>
              <a:rPr b="1"/>
              <a:t>*Preliminary* </a:t>
            </a:r>
            <a:r>
              <a:t>Results are consistent with existing literature: across all categories—any drug use, “soft” drug use, and “hard” drug use—a history of drug use is significantly associated with substantially increased odds of having experienced a lifetime MDE. Furthermore, females with a history of drug use have a TBD times increased risk of having experienced a lifetime MDE. Evidencing that early intervention strategies should target females in the age range of TBD in order to decrease lifetime incidences of MDE.</a:t>
            </a:r>
          </a:p>
        </p:txBody>
      </p:sp>
      <p:sp>
        <p:nvSpPr>
          <p:cNvPr id="49" name="TextBox 63"/>
          <p:cNvSpPr txBox="1"/>
          <p:nvPr/>
        </p:nvSpPr>
        <p:spPr>
          <a:xfrm>
            <a:off x="29618051" y="13156576"/>
            <a:ext cx="6671238"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Table  2 – Results from any drug use regression model.</a:t>
            </a:r>
          </a:p>
        </p:txBody>
      </p:sp>
      <p:pic>
        <p:nvPicPr>
          <p:cNvPr id="50" name="Picture 67" descr="Picture 67"/>
          <p:cNvPicPr>
            <a:picLocks noChangeAspect="1"/>
          </p:cNvPicPr>
          <p:nvPr/>
        </p:nvPicPr>
        <p:blipFill>
          <a:blip r:embed="rId2">
            <a:extLst/>
          </a:blip>
          <a:stretch>
            <a:fillRect/>
          </a:stretch>
        </p:blipFill>
        <p:spPr>
          <a:xfrm>
            <a:off x="653142" y="670193"/>
            <a:ext cx="8178222" cy="5732936"/>
          </a:xfrm>
          <a:prstGeom prst="rect">
            <a:avLst/>
          </a:prstGeom>
          <a:ln w="12700">
            <a:miter lim="400000"/>
          </a:ln>
        </p:spPr>
      </p:pic>
      <p:sp>
        <p:nvSpPr>
          <p:cNvPr id="51" name="TextBox 63"/>
          <p:cNvSpPr txBox="1"/>
          <p:nvPr/>
        </p:nvSpPr>
        <p:spPr>
          <a:xfrm>
            <a:off x="15285719" y="22421202"/>
            <a:ext cx="6671238"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Table 1 – Characteristics of sample population. </a:t>
            </a:r>
          </a:p>
        </p:txBody>
      </p:sp>
      <p:grpSp>
        <p:nvGrpSpPr>
          <p:cNvPr id="54" name="Rectangle 25"/>
          <p:cNvGrpSpPr/>
          <p:nvPr/>
        </p:nvGrpSpPr>
        <p:grpSpPr>
          <a:xfrm>
            <a:off x="495237" y="27787088"/>
            <a:ext cx="14036041" cy="1219201"/>
            <a:chOff x="0" y="0"/>
            <a:chExt cx="14036039" cy="1219200"/>
          </a:xfrm>
        </p:grpSpPr>
        <p:sp>
          <p:nvSpPr>
            <p:cNvPr id="52" name="Rectangle"/>
            <p:cNvSpPr/>
            <p:nvPr/>
          </p:nvSpPr>
          <p:spPr>
            <a:xfrm>
              <a:off x="-1" y="0"/>
              <a:ext cx="14036041" cy="1219200"/>
            </a:xfrm>
            <a:prstGeom prst="rect">
              <a:avLst/>
            </a:prstGeom>
            <a:gradFill flip="none" rotWithShape="1">
              <a:gsLst>
                <a:gs pos="16000">
                  <a:srgbClr val="3D7A67"/>
                </a:gs>
                <a:gs pos="100000">
                  <a:srgbClr val="093F39"/>
                </a:gs>
              </a:gsLst>
              <a:lin ang="18900000" scaled="0"/>
            </a:gradFill>
            <a:ln w="12700" cap="flat">
              <a:noFill/>
              <a:miter lim="400000"/>
            </a:ln>
            <a:effectLst/>
          </p:spPr>
          <p:txBody>
            <a:bodyPr wrap="square" lIns="45719" tIns="45719" rIns="45719" bIns="45719" numCol="1" anchor="ctr">
              <a:noAutofit/>
            </a:bodyPr>
            <a:lstStyle/>
            <a:p>
              <a:pPr algn="ctr" defTabSz="3224526"/>
            </a:p>
          </p:txBody>
        </p:sp>
        <p:sp>
          <p:nvSpPr>
            <p:cNvPr id="53" name="References"/>
            <p:cNvSpPr txBox="1"/>
            <p:nvPr/>
          </p:nvSpPr>
          <p:spPr>
            <a:xfrm>
              <a:off x="5318664" y="191803"/>
              <a:ext cx="3398711" cy="83559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9496" tIns="49496" rIns="49496" bIns="49496" numCol="1" anchor="ctr">
              <a:spAutoFit/>
            </a:bodyPr>
            <a:lstStyle>
              <a:lvl1pPr algn="ctr" defTabSz="3224526">
                <a:defRPr b="1" sz="4800">
                  <a:solidFill>
                    <a:srgbClr val="FFFFFF"/>
                  </a:solidFill>
                </a:defRPr>
              </a:lvl1pPr>
            </a:lstStyle>
            <a:p>
              <a:pPr/>
              <a:r>
                <a:t>References</a:t>
              </a:r>
            </a:p>
          </p:txBody>
        </p:sp>
      </p:grpSp>
      <p:sp>
        <p:nvSpPr>
          <p:cNvPr id="55" name="TextBox 16"/>
          <p:cNvSpPr txBox="1"/>
          <p:nvPr/>
        </p:nvSpPr>
        <p:spPr>
          <a:xfrm>
            <a:off x="817875" y="29403126"/>
            <a:ext cx="13319761" cy="304083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457200" indent="-317500">
              <a:buClr>
                <a:srgbClr val="212121"/>
              </a:buClr>
              <a:buSzPct val="100000"/>
              <a:buFont typeface="Times New Roman"/>
              <a:buAutoNum type="arabicPeriod" startAt="1"/>
              <a:defRPr>
                <a:solidFill>
                  <a:srgbClr val="212121"/>
                </a:solidFill>
                <a:latin typeface="Times New Roman"/>
                <a:ea typeface="Times New Roman"/>
                <a:cs typeface="Times New Roman"/>
                <a:sym typeface="Times New Roman"/>
              </a:defRPr>
            </a:pPr>
            <a:r>
              <a:t>Hansen ER, Kruckow S, Ewing SWF, Nordentoft M, Thomsen KR, Tolstrup JS. Adolescent substance use patterns and subsequent risk of mental and behavioural disorders, substance use, and suicidal behaviour: a cohort study. Lancet Public Health. 2025 Jul;10(7):e578-e587. doi: 10.1016/S2468-2667(25)00115-X. PMID: 40602857.</a:t>
            </a:r>
            <a:endParaRPr b="1"/>
          </a:p>
          <a:p>
            <a:pPr>
              <a:defRPr>
                <a:solidFill>
                  <a:srgbClr val="212121"/>
                </a:solidFill>
                <a:latin typeface="Times Roman"/>
                <a:ea typeface="Times Roman"/>
                <a:cs typeface="Times Roman"/>
                <a:sym typeface="Times Roman"/>
              </a:defRPr>
            </a:pPr>
          </a:p>
          <a:p>
            <a:pPr marL="457200" indent="-317500">
              <a:buClr>
                <a:srgbClr val="212121"/>
              </a:buClr>
              <a:buSzPct val="100000"/>
              <a:buFont typeface="Times New Roman"/>
              <a:buAutoNum type="arabicPeriod" startAt="2"/>
              <a:defRPr>
                <a:solidFill>
                  <a:srgbClr val="212121"/>
                </a:solidFill>
                <a:latin typeface="Times New Roman"/>
                <a:ea typeface="Times New Roman"/>
                <a:cs typeface="Times New Roman"/>
                <a:sym typeface="Times New Roman"/>
              </a:defRPr>
            </a:pPr>
            <a:r>
              <a:t>Barry CM, Jagtiani A, Livingston MD, Talavera-Brown S, LaBounty H, Atkinson E, Skinner JR, Komro KA. Anxiety and depressive symptoms as predictors of substance use initiation among adolescents living on and near a Tribal reservation in the Great Plains region of the U.S. Front Child Adolesc Psychiatry. 2024;3:1390793. doi: 10.3389/frcha.2024.1390793. Epub 2024 Nov 18. PMID: 39640212; PMCID: PMC11619325.</a:t>
            </a:r>
          </a:p>
          <a:p>
            <a:pPr>
              <a:defRPr>
                <a:solidFill>
                  <a:srgbClr val="212121"/>
                </a:solidFill>
                <a:latin typeface="Times New Roman"/>
                <a:ea typeface="Times New Roman"/>
                <a:cs typeface="Times New Roman"/>
                <a:sym typeface="Times New Roman"/>
              </a:defRPr>
            </a:pPr>
            <a:endParaRPr b="1"/>
          </a:p>
          <a:p>
            <a:pPr marL="457200" indent="-317500">
              <a:buClr>
                <a:srgbClr val="212121"/>
              </a:buClr>
              <a:buSzPct val="100000"/>
              <a:buFont typeface="Times New Roman"/>
              <a:buAutoNum type="arabicPeriod" startAt="3"/>
              <a:defRPr>
                <a:solidFill>
                  <a:srgbClr val="212121"/>
                </a:solidFill>
                <a:latin typeface="Times New Roman"/>
                <a:ea typeface="Times New Roman"/>
                <a:cs typeface="Times New Roman"/>
                <a:sym typeface="Times New Roman"/>
              </a:defRPr>
            </a:pPr>
            <a:r>
              <a:t>Gray KM, Squeglia LM. Research Review: What have we learned about adolescent substance use? J Child Psychol Psychiatry. 2018 Jun;59(6):618-627. doi: 10.1111/jcpp.12783. Epub 2017 Jul 17. PMID: 28714184; PMCID: PMC5771977.</a:t>
            </a:r>
          </a:p>
        </p:txBody>
      </p:sp>
      <p:pic>
        <p:nvPicPr>
          <p:cNvPr id="56" name="pasted-movie.png" descr="pasted-movie.png"/>
          <p:cNvPicPr>
            <a:picLocks noChangeAspect="1"/>
          </p:cNvPicPr>
          <p:nvPr/>
        </p:nvPicPr>
        <p:blipFill>
          <a:blip r:embed="rId3">
            <a:extLst/>
          </a:blip>
          <a:stretch>
            <a:fillRect/>
          </a:stretch>
        </p:blipFill>
        <p:spPr>
          <a:xfrm>
            <a:off x="15187645" y="9109574"/>
            <a:ext cx="13522962" cy="13290075"/>
          </a:xfrm>
          <a:prstGeom prst="rect">
            <a:avLst/>
          </a:prstGeom>
          <a:ln w="12700">
            <a:miter lim="400000"/>
          </a:ln>
        </p:spPr>
      </p:pic>
      <p:grpSp>
        <p:nvGrpSpPr>
          <p:cNvPr id="59" name="Rectangle 24"/>
          <p:cNvGrpSpPr/>
          <p:nvPr/>
        </p:nvGrpSpPr>
        <p:grpSpPr>
          <a:xfrm>
            <a:off x="29357478" y="7745438"/>
            <a:ext cx="14036040" cy="1219201"/>
            <a:chOff x="0" y="0"/>
            <a:chExt cx="14036039" cy="1219200"/>
          </a:xfrm>
        </p:grpSpPr>
        <p:sp>
          <p:nvSpPr>
            <p:cNvPr id="57" name="Rectangle"/>
            <p:cNvSpPr/>
            <p:nvPr/>
          </p:nvSpPr>
          <p:spPr>
            <a:xfrm>
              <a:off x="-1" y="0"/>
              <a:ext cx="14036041" cy="1219200"/>
            </a:xfrm>
            <a:prstGeom prst="rect">
              <a:avLst/>
            </a:prstGeom>
            <a:gradFill flip="none" rotWithShape="1">
              <a:gsLst>
                <a:gs pos="16000">
                  <a:srgbClr val="3D7A67"/>
                </a:gs>
                <a:gs pos="100000">
                  <a:srgbClr val="093F39"/>
                </a:gs>
              </a:gsLst>
              <a:lin ang="18900000" scaled="0"/>
            </a:gradFill>
            <a:ln w="12700" cap="flat">
              <a:noFill/>
              <a:miter lim="400000"/>
            </a:ln>
            <a:effectLst/>
          </p:spPr>
          <p:txBody>
            <a:bodyPr wrap="square" lIns="45719" tIns="45719" rIns="45719" bIns="45719" numCol="1" anchor="ctr">
              <a:noAutofit/>
            </a:bodyPr>
            <a:lstStyle/>
            <a:p>
              <a:pPr algn="ctr" defTabSz="3224526"/>
            </a:p>
          </p:txBody>
        </p:sp>
        <p:sp>
          <p:nvSpPr>
            <p:cNvPr id="58" name="Results Continued…"/>
            <p:cNvSpPr txBox="1"/>
            <p:nvPr/>
          </p:nvSpPr>
          <p:spPr>
            <a:xfrm>
              <a:off x="3964924" y="191803"/>
              <a:ext cx="6106192" cy="83559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9496" tIns="49496" rIns="49496" bIns="49496" numCol="1" anchor="ctr">
              <a:spAutoFit/>
            </a:bodyPr>
            <a:lstStyle>
              <a:lvl1pPr algn="ctr" defTabSz="3224526">
                <a:defRPr b="1" sz="4800">
                  <a:solidFill>
                    <a:srgbClr val="FFFFFF"/>
                  </a:solidFill>
                </a:defRPr>
              </a:lvl1pPr>
            </a:lstStyle>
            <a:p>
              <a:pPr/>
              <a:r>
                <a:t>Results Continued…</a:t>
              </a:r>
            </a:p>
          </p:txBody>
        </p:sp>
      </p:grpSp>
      <p:grpSp>
        <p:nvGrpSpPr>
          <p:cNvPr id="62" name="Rectangle 21"/>
          <p:cNvGrpSpPr/>
          <p:nvPr/>
        </p:nvGrpSpPr>
        <p:grpSpPr>
          <a:xfrm>
            <a:off x="493171" y="27787088"/>
            <a:ext cx="14036040" cy="1219201"/>
            <a:chOff x="0" y="0"/>
            <a:chExt cx="14036039" cy="1219200"/>
          </a:xfrm>
        </p:grpSpPr>
        <p:sp>
          <p:nvSpPr>
            <p:cNvPr id="60" name="Rectangle"/>
            <p:cNvSpPr/>
            <p:nvPr/>
          </p:nvSpPr>
          <p:spPr>
            <a:xfrm>
              <a:off x="-1" y="0"/>
              <a:ext cx="14036041" cy="1219200"/>
            </a:xfrm>
            <a:prstGeom prst="rect">
              <a:avLst/>
            </a:prstGeom>
            <a:solidFill>
              <a:srgbClr val="D9D9D9"/>
            </a:solidFill>
            <a:ln w="12700" cap="flat">
              <a:noFill/>
              <a:miter lim="400000"/>
            </a:ln>
            <a:effectLst/>
          </p:spPr>
          <p:txBody>
            <a:bodyPr wrap="square" lIns="45719" tIns="45719" rIns="45719" bIns="45719" numCol="1" anchor="ctr">
              <a:noAutofit/>
            </a:bodyPr>
            <a:lstStyle/>
            <a:p>
              <a:pPr algn="ctr" defTabSz="3224526"/>
            </a:p>
          </p:txBody>
        </p:sp>
        <p:sp>
          <p:nvSpPr>
            <p:cNvPr id="61" name="References"/>
            <p:cNvSpPr txBox="1"/>
            <p:nvPr/>
          </p:nvSpPr>
          <p:spPr>
            <a:xfrm>
              <a:off x="5318664" y="191803"/>
              <a:ext cx="3398711" cy="83559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9496" tIns="49496" rIns="49496" bIns="49496" numCol="1" anchor="ctr">
              <a:spAutoFit/>
            </a:bodyPr>
            <a:lstStyle>
              <a:lvl1pPr algn="ctr" defTabSz="3224526">
                <a:defRPr b="1" sz="4800">
                  <a:solidFill>
                    <a:srgbClr val="093F39"/>
                  </a:solidFill>
                </a:defRPr>
              </a:lvl1pPr>
            </a:lstStyle>
            <a:p>
              <a:pPr/>
              <a:r>
                <a:t>References</a:t>
              </a:r>
            </a:p>
          </p:txBody>
        </p:sp>
      </p:grpSp>
      <p:sp>
        <p:nvSpPr>
          <p:cNvPr id="63" name="TextBox 63"/>
          <p:cNvSpPr txBox="1"/>
          <p:nvPr/>
        </p:nvSpPr>
        <p:spPr>
          <a:xfrm>
            <a:off x="29618051" y="17929936"/>
            <a:ext cx="6671238"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Table  3 – Results from any “soft” drug use regression model.</a:t>
            </a:r>
          </a:p>
        </p:txBody>
      </p:sp>
      <p:sp>
        <p:nvSpPr>
          <p:cNvPr id="64" name="TextBox 63"/>
          <p:cNvSpPr txBox="1"/>
          <p:nvPr/>
        </p:nvSpPr>
        <p:spPr>
          <a:xfrm>
            <a:off x="29618051" y="22858512"/>
            <a:ext cx="6671238"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Table  4 – Results from any “hard” drug use regression model.</a:t>
            </a:r>
          </a:p>
        </p:txBody>
      </p:sp>
      <p:pic>
        <p:nvPicPr>
          <p:cNvPr id="65" name="pasted-movie.png" descr="pasted-movie.png"/>
          <p:cNvPicPr>
            <a:picLocks noChangeAspect="1"/>
          </p:cNvPicPr>
          <p:nvPr/>
        </p:nvPicPr>
        <p:blipFill>
          <a:blip r:embed="rId4">
            <a:extLst/>
          </a:blip>
          <a:stretch>
            <a:fillRect/>
          </a:stretch>
        </p:blipFill>
        <p:spPr>
          <a:xfrm>
            <a:off x="29618051" y="9196946"/>
            <a:ext cx="13522961" cy="3505954"/>
          </a:xfrm>
          <a:prstGeom prst="rect">
            <a:avLst/>
          </a:prstGeom>
          <a:ln w="12700">
            <a:miter lim="400000"/>
          </a:ln>
        </p:spPr>
      </p:pic>
      <p:pic>
        <p:nvPicPr>
          <p:cNvPr id="66" name="pasted-movie.png" descr="pasted-movie.png"/>
          <p:cNvPicPr>
            <a:picLocks noChangeAspect="1"/>
          </p:cNvPicPr>
          <p:nvPr/>
        </p:nvPicPr>
        <p:blipFill>
          <a:blip r:embed="rId4">
            <a:extLst/>
          </a:blip>
          <a:stretch>
            <a:fillRect/>
          </a:stretch>
        </p:blipFill>
        <p:spPr>
          <a:xfrm>
            <a:off x="29618051" y="14025644"/>
            <a:ext cx="13522961" cy="3505953"/>
          </a:xfrm>
          <a:prstGeom prst="rect">
            <a:avLst/>
          </a:prstGeom>
          <a:ln w="12700">
            <a:miter lim="400000"/>
          </a:ln>
        </p:spPr>
      </p:pic>
      <p:pic>
        <p:nvPicPr>
          <p:cNvPr id="67" name="pasted-movie.png" descr="pasted-movie.png"/>
          <p:cNvPicPr>
            <a:picLocks noChangeAspect="1"/>
          </p:cNvPicPr>
          <p:nvPr/>
        </p:nvPicPr>
        <p:blipFill>
          <a:blip r:embed="rId4">
            <a:extLst/>
          </a:blip>
          <a:stretch>
            <a:fillRect/>
          </a:stretch>
        </p:blipFill>
        <p:spPr>
          <a:xfrm>
            <a:off x="29618051" y="18854342"/>
            <a:ext cx="13522961" cy="3505953"/>
          </a:xfrm>
          <a:prstGeom prst="rect">
            <a:avLst/>
          </a:prstGeom>
          <a:ln w="12700">
            <a:miter lim="400000"/>
          </a:ln>
        </p:spPr>
      </p:pic>
      <p:sp>
        <p:nvSpPr>
          <p:cNvPr id="68" name="EXAMPLE"/>
          <p:cNvSpPr txBox="1"/>
          <p:nvPr/>
        </p:nvSpPr>
        <p:spPr>
          <a:xfrm>
            <a:off x="34739541" y="10314998"/>
            <a:ext cx="3103958" cy="8534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5000">
                <a:solidFill>
                  <a:srgbClr val="F6082E"/>
                </a:solidFill>
              </a:defRPr>
            </a:lvl1pPr>
          </a:lstStyle>
          <a:p>
            <a:pPr/>
            <a:r>
              <a:t>EXAMPLE</a:t>
            </a:r>
          </a:p>
        </p:txBody>
      </p:sp>
      <p:sp>
        <p:nvSpPr>
          <p:cNvPr id="69" name="EXAMPLE"/>
          <p:cNvSpPr txBox="1"/>
          <p:nvPr/>
        </p:nvSpPr>
        <p:spPr>
          <a:xfrm>
            <a:off x="34827552" y="15243574"/>
            <a:ext cx="3103958" cy="8534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5000">
                <a:solidFill>
                  <a:srgbClr val="F6082E"/>
                </a:solidFill>
              </a:defRPr>
            </a:lvl1pPr>
          </a:lstStyle>
          <a:p>
            <a:pPr/>
            <a:r>
              <a:t>EXAMPLE</a:t>
            </a:r>
          </a:p>
        </p:txBody>
      </p:sp>
      <p:sp>
        <p:nvSpPr>
          <p:cNvPr id="70" name="EXAMPLE"/>
          <p:cNvSpPr txBox="1"/>
          <p:nvPr/>
        </p:nvSpPr>
        <p:spPr>
          <a:xfrm>
            <a:off x="34177559" y="19915544"/>
            <a:ext cx="3103957" cy="8534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sz="5000">
                <a:solidFill>
                  <a:srgbClr val="F6082E"/>
                </a:solidFill>
              </a:defRPr>
            </a:lvl1pPr>
          </a:lstStyle>
          <a:p>
            <a:pPr/>
            <a:r>
              <a:t>EXAMPLE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 name="Rectangle 1"/>
          <p:cNvSpPr/>
          <p:nvPr/>
        </p:nvSpPr>
        <p:spPr>
          <a:xfrm>
            <a:off x="36088321" y="18567258"/>
            <a:ext cx="6908798" cy="5622707"/>
          </a:xfrm>
          <a:prstGeom prst="rect">
            <a:avLst/>
          </a:prstGeom>
          <a:solidFill>
            <a:schemeClr val="accent1"/>
          </a:solidFill>
          <a:ln>
            <a:solidFill>
              <a:srgbClr val="000000"/>
            </a:solidFill>
          </a:ln>
        </p:spPr>
        <p:txBody>
          <a:bodyPr lIns="45719" rIns="45719"/>
          <a:lstStyle/>
          <a:p>
            <a:pPr defTabSz="5016374">
              <a:defRPr sz="3400"/>
            </a:pPr>
          </a:p>
        </p:txBody>
      </p:sp>
      <p:grpSp>
        <p:nvGrpSpPr>
          <p:cNvPr id="75" name="Rectangle 20"/>
          <p:cNvGrpSpPr/>
          <p:nvPr/>
        </p:nvGrpSpPr>
        <p:grpSpPr>
          <a:xfrm>
            <a:off x="494412" y="7745438"/>
            <a:ext cx="14036041" cy="1219201"/>
            <a:chOff x="0" y="0"/>
            <a:chExt cx="14036039" cy="1219200"/>
          </a:xfrm>
        </p:grpSpPr>
        <p:sp>
          <p:nvSpPr>
            <p:cNvPr id="73" name="Rectangle"/>
            <p:cNvSpPr/>
            <p:nvPr/>
          </p:nvSpPr>
          <p:spPr>
            <a:xfrm>
              <a:off x="-1" y="0"/>
              <a:ext cx="14036041" cy="1219200"/>
            </a:xfrm>
            <a:prstGeom prst="rect">
              <a:avLst/>
            </a:prstGeom>
            <a:gradFill flip="none" rotWithShape="1">
              <a:gsLst>
                <a:gs pos="16000">
                  <a:srgbClr val="3D7A67"/>
                </a:gs>
                <a:gs pos="100000">
                  <a:srgbClr val="093F39"/>
                </a:gs>
              </a:gsLst>
              <a:lin ang="18900000" scaled="0"/>
            </a:gradFill>
            <a:ln w="12700" cap="flat">
              <a:noFill/>
              <a:miter lim="400000"/>
            </a:ln>
            <a:effectLst/>
          </p:spPr>
          <p:txBody>
            <a:bodyPr wrap="square" lIns="45719" tIns="45719" rIns="45719" bIns="45719" numCol="1" anchor="ctr">
              <a:noAutofit/>
            </a:bodyPr>
            <a:lstStyle/>
            <a:p>
              <a:pPr algn="ctr" defTabSz="3224526"/>
            </a:p>
          </p:txBody>
        </p:sp>
        <p:sp>
          <p:nvSpPr>
            <p:cNvPr id="74" name="Introduction"/>
            <p:cNvSpPr txBox="1"/>
            <p:nvPr/>
          </p:nvSpPr>
          <p:spPr>
            <a:xfrm>
              <a:off x="5184570" y="191803"/>
              <a:ext cx="3666899" cy="83559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9496" tIns="49496" rIns="49496" bIns="49496" numCol="1" anchor="ctr">
              <a:spAutoFit/>
            </a:bodyPr>
            <a:lstStyle>
              <a:lvl1pPr algn="ctr" defTabSz="3224526">
                <a:defRPr b="1" sz="4800">
                  <a:solidFill>
                    <a:srgbClr val="FFFFFF"/>
                  </a:solidFill>
                </a:defRPr>
              </a:lvl1pPr>
            </a:lstStyle>
            <a:p>
              <a:pPr/>
              <a:r>
                <a:t>Introduction</a:t>
              </a:r>
            </a:p>
          </p:txBody>
        </p:sp>
      </p:grpSp>
      <p:grpSp>
        <p:nvGrpSpPr>
          <p:cNvPr id="78" name="Rectangle 21"/>
          <p:cNvGrpSpPr/>
          <p:nvPr/>
        </p:nvGrpSpPr>
        <p:grpSpPr>
          <a:xfrm>
            <a:off x="29360747" y="24563362"/>
            <a:ext cx="14036040" cy="1219201"/>
            <a:chOff x="0" y="0"/>
            <a:chExt cx="14036039" cy="1219200"/>
          </a:xfrm>
        </p:grpSpPr>
        <p:sp>
          <p:nvSpPr>
            <p:cNvPr id="76" name="Rectangle"/>
            <p:cNvSpPr/>
            <p:nvPr/>
          </p:nvSpPr>
          <p:spPr>
            <a:xfrm>
              <a:off x="-1" y="0"/>
              <a:ext cx="14036041" cy="1219200"/>
            </a:xfrm>
            <a:prstGeom prst="rect">
              <a:avLst/>
            </a:prstGeom>
            <a:gradFill flip="none" rotWithShape="1">
              <a:gsLst>
                <a:gs pos="16000">
                  <a:srgbClr val="3D7A67"/>
                </a:gs>
                <a:gs pos="100000">
                  <a:srgbClr val="093F39"/>
                </a:gs>
              </a:gsLst>
              <a:lin ang="18900000" scaled="0"/>
            </a:gradFill>
            <a:ln w="12700" cap="flat">
              <a:noFill/>
              <a:miter lim="400000"/>
            </a:ln>
            <a:effectLst/>
          </p:spPr>
          <p:txBody>
            <a:bodyPr wrap="square" lIns="45719" tIns="45719" rIns="45719" bIns="45719" numCol="1" anchor="ctr">
              <a:noAutofit/>
            </a:bodyPr>
            <a:lstStyle/>
            <a:p>
              <a:pPr algn="ctr" defTabSz="3224526"/>
            </a:p>
          </p:txBody>
        </p:sp>
        <p:sp>
          <p:nvSpPr>
            <p:cNvPr id="77" name="References"/>
            <p:cNvSpPr txBox="1"/>
            <p:nvPr/>
          </p:nvSpPr>
          <p:spPr>
            <a:xfrm>
              <a:off x="5318664" y="191803"/>
              <a:ext cx="3398711" cy="83559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9496" tIns="49496" rIns="49496" bIns="49496" numCol="1" anchor="ctr">
              <a:spAutoFit/>
            </a:bodyPr>
            <a:lstStyle>
              <a:lvl1pPr algn="ctr" defTabSz="3224526">
                <a:defRPr b="1" sz="4800">
                  <a:solidFill>
                    <a:srgbClr val="FFFFFF"/>
                  </a:solidFill>
                </a:defRPr>
              </a:lvl1pPr>
            </a:lstStyle>
            <a:p>
              <a:pPr/>
              <a:r>
                <a:t>References</a:t>
              </a:r>
            </a:p>
          </p:txBody>
        </p:sp>
      </p:grpSp>
      <p:grpSp>
        <p:nvGrpSpPr>
          <p:cNvPr id="81" name="Rectangle 22"/>
          <p:cNvGrpSpPr/>
          <p:nvPr/>
        </p:nvGrpSpPr>
        <p:grpSpPr>
          <a:xfrm>
            <a:off x="14927580" y="7745438"/>
            <a:ext cx="14036040" cy="1219201"/>
            <a:chOff x="0" y="0"/>
            <a:chExt cx="14036039" cy="1219200"/>
          </a:xfrm>
        </p:grpSpPr>
        <p:sp>
          <p:nvSpPr>
            <p:cNvPr id="79" name="Rectangle"/>
            <p:cNvSpPr/>
            <p:nvPr/>
          </p:nvSpPr>
          <p:spPr>
            <a:xfrm>
              <a:off x="-1" y="0"/>
              <a:ext cx="14036041" cy="1219200"/>
            </a:xfrm>
            <a:prstGeom prst="rect">
              <a:avLst/>
            </a:prstGeom>
            <a:gradFill flip="none" rotWithShape="1">
              <a:gsLst>
                <a:gs pos="16000">
                  <a:srgbClr val="3D7A67"/>
                </a:gs>
                <a:gs pos="100000">
                  <a:srgbClr val="093F39"/>
                </a:gs>
              </a:gsLst>
              <a:lin ang="18900000" scaled="0"/>
            </a:gradFill>
            <a:ln w="12700" cap="flat">
              <a:noFill/>
              <a:miter lim="400000"/>
            </a:ln>
            <a:effectLst/>
          </p:spPr>
          <p:txBody>
            <a:bodyPr wrap="square" lIns="45719" tIns="45719" rIns="45719" bIns="45719" numCol="1" anchor="ctr">
              <a:noAutofit/>
            </a:bodyPr>
            <a:lstStyle/>
            <a:p>
              <a:pPr algn="ctr" defTabSz="3224526"/>
            </a:p>
          </p:txBody>
        </p:sp>
        <p:sp>
          <p:nvSpPr>
            <p:cNvPr id="80" name="Methods"/>
            <p:cNvSpPr txBox="1"/>
            <p:nvPr/>
          </p:nvSpPr>
          <p:spPr>
            <a:xfrm>
              <a:off x="5709189" y="191803"/>
              <a:ext cx="2617661" cy="83559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9496" tIns="49496" rIns="49496" bIns="49496" numCol="1" anchor="ctr">
              <a:spAutoFit/>
            </a:bodyPr>
            <a:lstStyle>
              <a:lvl1pPr algn="ctr" defTabSz="3224526">
                <a:defRPr b="1" sz="4800">
                  <a:solidFill>
                    <a:srgbClr val="FFFFFF"/>
                  </a:solidFill>
                </a:defRPr>
              </a:lvl1pPr>
            </a:lstStyle>
            <a:p>
              <a:pPr/>
              <a:r>
                <a:t>Methods</a:t>
              </a:r>
            </a:p>
          </p:txBody>
        </p:sp>
      </p:grpSp>
      <p:grpSp>
        <p:nvGrpSpPr>
          <p:cNvPr id="84" name="Rectangle 24"/>
          <p:cNvGrpSpPr/>
          <p:nvPr/>
        </p:nvGrpSpPr>
        <p:grpSpPr>
          <a:xfrm>
            <a:off x="14927580" y="17314501"/>
            <a:ext cx="14036040" cy="1219201"/>
            <a:chOff x="0" y="0"/>
            <a:chExt cx="14036039" cy="1219200"/>
          </a:xfrm>
        </p:grpSpPr>
        <p:sp>
          <p:nvSpPr>
            <p:cNvPr id="82" name="Rectangle"/>
            <p:cNvSpPr/>
            <p:nvPr/>
          </p:nvSpPr>
          <p:spPr>
            <a:xfrm>
              <a:off x="-1" y="0"/>
              <a:ext cx="14036041" cy="1219200"/>
            </a:xfrm>
            <a:prstGeom prst="rect">
              <a:avLst/>
            </a:prstGeom>
            <a:gradFill flip="none" rotWithShape="1">
              <a:gsLst>
                <a:gs pos="16000">
                  <a:srgbClr val="3D7A67"/>
                </a:gs>
                <a:gs pos="100000">
                  <a:srgbClr val="093F39"/>
                </a:gs>
              </a:gsLst>
              <a:lin ang="18900000" scaled="0"/>
            </a:gradFill>
            <a:ln w="12700" cap="flat">
              <a:noFill/>
              <a:miter lim="400000"/>
            </a:ln>
            <a:effectLst/>
          </p:spPr>
          <p:txBody>
            <a:bodyPr wrap="square" lIns="45719" tIns="45719" rIns="45719" bIns="45719" numCol="1" anchor="ctr">
              <a:noAutofit/>
            </a:bodyPr>
            <a:lstStyle/>
            <a:p>
              <a:pPr algn="ctr" defTabSz="3224526"/>
            </a:p>
          </p:txBody>
        </p:sp>
        <p:sp>
          <p:nvSpPr>
            <p:cNvPr id="83" name="Results"/>
            <p:cNvSpPr txBox="1"/>
            <p:nvPr/>
          </p:nvSpPr>
          <p:spPr>
            <a:xfrm>
              <a:off x="5861143" y="191803"/>
              <a:ext cx="2313754" cy="83559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9496" tIns="49496" rIns="49496" bIns="49496" numCol="1" anchor="ctr">
              <a:spAutoFit/>
            </a:bodyPr>
            <a:lstStyle>
              <a:lvl1pPr algn="ctr" defTabSz="3224526">
                <a:defRPr b="1" sz="4800">
                  <a:solidFill>
                    <a:srgbClr val="FFFFFF"/>
                  </a:solidFill>
                </a:defRPr>
              </a:lvl1pPr>
            </a:lstStyle>
            <a:p>
              <a:pPr/>
              <a:r>
                <a:t>Results</a:t>
              </a:r>
            </a:p>
          </p:txBody>
        </p:sp>
      </p:grpSp>
      <p:grpSp>
        <p:nvGrpSpPr>
          <p:cNvPr id="87" name="Rectangle 25"/>
          <p:cNvGrpSpPr/>
          <p:nvPr/>
        </p:nvGrpSpPr>
        <p:grpSpPr>
          <a:xfrm>
            <a:off x="29360747" y="7745438"/>
            <a:ext cx="14036040" cy="1219201"/>
            <a:chOff x="0" y="0"/>
            <a:chExt cx="14036039" cy="1219200"/>
          </a:xfrm>
        </p:grpSpPr>
        <p:sp>
          <p:nvSpPr>
            <p:cNvPr id="85" name="Rectangle"/>
            <p:cNvSpPr/>
            <p:nvPr/>
          </p:nvSpPr>
          <p:spPr>
            <a:xfrm>
              <a:off x="-1" y="0"/>
              <a:ext cx="14036041" cy="1219200"/>
            </a:xfrm>
            <a:prstGeom prst="rect">
              <a:avLst/>
            </a:prstGeom>
            <a:gradFill flip="none" rotWithShape="1">
              <a:gsLst>
                <a:gs pos="16000">
                  <a:srgbClr val="3D7A67"/>
                </a:gs>
                <a:gs pos="100000">
                  <a:srgbClr val="093F39"/>
                </a:gs>
              </a:gsLst>
              <a:lin ang="18900000" scaled="0"/>
            </a:gradFill>
            <a:ln w="12700" cap="flat">
              <a:noFill/>
              <a:miter lim="400000"/>
            </a:ln>
            <a:effectLst/>
          </p:spPr>
          <p:txBody>
            <a:bodyPr wrap="square" lIns="45719" tIns="45719" rIns="45719" bIns="45719" numCol="1" anchor="ctr">
              <a:noAutofit/>
            </a:bodyPr>
            <a:lstStyle/>
            <a:p>
              <a:pPr algn="ctr" defTabSz="3224526"/>
            </a:p>
          </p:txBody>
        </p:sp>
        <p:sp>
          <p:nvSpPr>
            <p:cNvPr id="86" name="Conclusion"/>
            <p:cNvSpPr txBox="1"/>
            <p:nvPr/>
          </p:nvSpPr>
          <p:spPr>
            <a:xfrm>
              <a:off x="5302740" y="191803"/>
              <a:ext cx="3430560" cy="83559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9496" tIns="49496" rIns="49496" bIns="49496" numCol="1" anchor="ctr">
              <a:spAutoFit/>
            </a:bodyPr>
            <a:lstStyle>
              <a:lvl1pPr algn="ctr" defTabSz="3224526">
                <a:defRPr b="1" sz="4800">
                  <a:solidFill>
                    <a:srgbClr val="FFFFFF"/>
                  </a:solidFill>
                </a:defRPr>
              </a:lvl1pPr>
            </a:lstStyle>
            <a:p>
              <a:pPr/>
              <a:r>
                <a:t>Conclusion</a:t>
              </a:r>
            </a:p>
          </p:txBody>
        </p:sp>
      </p:grpSp>
      <p:sp>
        <p:nvSpPr>
          <p:cNvPr id="88" name="Title 8"/>
          <p:cNvSpPr txBox="1"/>
          <p:nvPr/>
        </p:nvSpPr>
        <p:spPr>
          <a:xfrm>
            <a:off x="9748519" y="1033705"/>
            <a:ext cx="33443820" cy="264922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defTabSz="4389120">
              <a:lnSpc>
                <a:spcPct val="90000"/>
              </a:lnSpc>
              <a:defRPr sz="8800">
                <a:solidFill>
                  <a:srgbClr val="FFFFFF"/>
                </a:solidFill>
                <a:latin typeface="Lato Heavy"/>
                <a:ea typeface="Lato Heavy"/>
                <a:cs typeface="Lato Heavy"/>
                <a:sym typeface="Lato Heavy"/>
              </a:defRPr>
            </a:pPr>
            <a:r>
              <a:t>Title – this is a </a:t>
            </a:r>
            <a:r>
              <a:rPr>
                <a:solidFill>
                  <a:schemeClr val="accent2"/>
                </a:solidFill>
              </a:rPr>
              <a:t>48” x 36” (4’ x 3’) poster</a:t>
            </a:r>
            <a:r>
              <a:t>, 88 point Lato heavy title heading, legible at 16 feet away</a:t>
            </a:r>
          </a:p>
        </p:txBody>
      </p:sp>
      <p:sp>
        <p:nvSpPr>
          <p:cNvPr id="89" name="Subtitle 9"/>
          <p:cNvSpPr txBox="1"/>
          <p:nvPr/>
        </p:nvSpPr>
        <p:spPr>
          <a:xfrm>
            <a:off x="9748521" y="4139345"/>
            <a:ext cx="33443817" cy="165989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defTabSz="4389120">
              <a:lnSpc>
                <a:spcPct val="90000"/>
              </a:lnSpc>
              <a:defRPr sz="5400">
                <a:solidFill>
                  <a:srgbClr val="FFFFFF"/>
                </a:solidFill>
              </a:defRPr>
            </a:pPr>
            <a:r>
              <a:t>Authors and affiliations</a:t>
            </a:r>
            <a:endParaRPr sz="13400"/>
          </a:p>
          <a:p>
            <a:pPr algn="ctr" defTabSz="4389120">
              <a:lnSpc>
                <a:spcPct val="90000"/>
              </a:lnSpc>
              <a:defRPr sz="5400">
                <a:solidFill>
                  <a:srgbClr val="FFFFFF"/>
                </a:solidFill>
              </a:defRPr>
            </a:pPr>
            <a:r>
              <a:t>54 point Lato medium body</a:t>
            </a:r>
          </a:p>
        </p:txBody>
      </p:sp>
      <p:sp>
        <p:nvSpPr>
          <p:cNvPr id="90" name="Rectangle 9"/>
          <p:cNvSpPr/>
          <p:nvPr/>
        </p:nvSpPr>
        <p:spPr>
          <a:xfrm>
            <a:off x="34198557" y="15229234"/>
            <a:ext cx="4185921" cy="1219201"/>
          </a:xfrm>
          <a:prstGeom prst="rect">
            <a:avLst/>
          </a:prstGeom>
          <a:gradFill>
            <a:gsLst>
              <a:gs pos="0">
                <a:srgbClr val="00926E"/>
              </a:gs>
              <a:gs pos="100000">
                <a:schemeClr val="accent3"/>
              </a:gs>
            </a:gsLst>
            <a:lin ang="18900000"/>
          </a:gradFill>
          <a:ln w="12700">
            <a:miter lim="400000"/>
          </a:ln>
        </p:spPr>
        <p:txBody>
          <a:bodyPr lIns="45719" rIns="45719" anchor="ctr"/>
          <a:lstStyle/>
          <a:p>
            <a:pPr algn="ctr">
              <a:defRPr sz="3300">
                <a:solidFill>
                  <a:srgbClr val="FFFFFF"/>
                </a:solidFill>
              </a:defRPr>
            </a:pPr>
          </a:p>
        </p:txBody>
      </p:sp>
      <p:sp>
        <p:nvSpPr>
          <p:cNvPr id="91" name="Rectangle 10"/>
          <p:cNvSpPr/>
          <p:nvPr/>
        </p:nvSpPr>
        <p:spPr>
          <a:xfrm>
            <a:off x="38811200" y="15229234"/>
            <a:ext cx="4185921" cy="1219201"/>
          </a:xfrm>
          <a:prstGeom prst="rect">
            <a:avLst/>
          </a:prstGeom>
          <a:gradFill>
            <a:gsLst>
              <a:gs pos="0">
                <a:srgbClr val="FFC844"/>
              </a:gs>
              <a:gs pos="99000">
                <a:schemeClr val="accent3"/>
              </a:gs>
            </a:gsLst>
            <a:lin ang="18900000"/>
          </a:gradFill>
          <a:ln w="12700">
            <a:miter lim="400000"/>
          </a:ln>
        </p:spPr>
        <p:txBody>
          <a:bodyPr lIns="45719" rIns="45719" anchor="ctr"/>
          <a:lstStyle/>
          <a:p>
            <a:pPr algn="ctr">
              <a:defRPr sz="3300">
                <a:solidFill>
                  <a:srgbClr val="FFFFFF"/>
                </a:solidFill>
              </a:defRPr>
            </a:pPr>
          </a:p>
        </p:txBody>
      </p:sp>
      <p:sp>
        <p:nvSpPr>
          <p:cNvPr id="92" name="Rectangle 11"/>
          <p:cNvSpPr/>
          <p:nvPr/>
        </p:nvSpPr>
        <p:spPr>
          <a:xfrm>
            <a:off x="29585918" y="15229234"/>
            <a:ext cx="4185921" cy="1219201"/>
          </a:xfrm>
          <a:prstGeom prst="rect">
            <a:avLst/>
          </a:prstGeom>
          <a:gradFill>
            <a:gsLst>
              <a:gs pos="0">
                <a:srgbClr val="00926E"/>
              </a:gs>
              <a:gs pos="100000">
                <a:srgbClr val="00594F"/>
              </a:gs>
            </a:gsLst>
            <a:lin ang="18900000"/>
          </a:gradFill>
          <a:ln w="12700">
            <a:miter lim="400000"/>
          </a:ln>
        </p:spPr>
        <p:txBody>
          <a:bodyPr lIns="45719" rIns="45719" anchor="ctr"/>
          <a:lstStyle/>
          <a:p>
            <a:pPr algn="ctr">
              <a:defRPr sz="3300">
                <a:solidFill>
                  <a:srgbClr val="FFFFFF"/>
                </a:solidFill>
              </a:defRPr>
            </a:pPr>
          </a:p>
        </p:txBody>
      </p:sp>
      <p:sp>
        <p:nvSpPr>
          <p:cNvPr id="93" name="TextBox 12"/>
          <p:cNvSpPr txBox="1"/>
          <p:nvPr/>
        </p:nvSpPr>
        <p:spPr>
          <a:xfrm>
            <a:off x="29631639" y="14389732"/>
            <a:ext cx="13319761"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spcBef>
                <a:spcPts val="1600"/>
              </a:spcBef>
              <a:defRPr sz="2800"/>
            </a:lvl1pPr>
          </a:lstStyle>
          <a:p>
            <a:pPr/>
            <a:r>
              <a:t>Below are 3 accent gradients you can use as part of the WSU color branding.</a:t>
            </a:r>
          </a:p>
        </p:txBody>
      </p:sp>
      <p:sp>
        <p:nvSpPr>
          <p:cNvPr id="94" name="TextBox 13"/>
          <p:cNvSpPr txBox="1"/>
          <p:nvPr/>
        </p:nvSpPr>
        <p:spPr>
          <a:xfrm>
            <a:off x="939800" y="9294015"/>
            <a:ext cx="13319761" cy="1802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1600"/>
              </a:spcBef>
              <a:defRPr sz="2800"/>
            </a:pPr>
            <a:r>
              <a:t>Any posters that are meant to be read at a minimum distance; the following sizes are suggested:</a:t>
            </a:r>
          </a:p>
          <a:p>
            <a:pPr marL="768331" indent="-463539">
              <a:spcBef>
                <a:spcPts val="1600"/>
              </a:spcBef>
              <a:buSzPct val="100000"/>
              <a:buFont typeface="Arial"/>
              <a:buChar char="•"/>
              <a:defRPr sz="2800"/>
            </a:pPr>
            <a:r>
              <a:t>Title: 88 pt bolded</a:t>
            </a:r>
          </a:p>
          <a:p>
            <a:pPr marL="768331" indent="-463539">
              <a:spcBef>
                <a:spcPts val="1600"/>
              </a:spcBef>
              <a:buSzPct val="100000"/>
              <a:buFont typeface="Arial"/>
              <a:buChar char="•"/>
              <a:defRPr sz="2800"/>
            </a:pPr>
            <a:r>
              <a:t>Authors and affiliations: 54 - 60 pt</a:t>
            </a:r>
          </a:p>
          <a:p>
            <a:pPr marL="768331" indent="-463539">
              <a:spcBef>
                <a:spcPts val="1600"/>
              </a:spcBef>
              <a:buSzPct val="100000"/>
              <a:buFont typeface="Arial"/>
              <a:buChar char="•"/>
              <a:defRPr sz="2800"/>
            </a:pPr>
            <a:r>
              <a:t>Headings: 36 pt</a:t>
            </a:r>
          </a:p>
          <a:p>
            <a:pPr marL="768331" indent="-463539">
              <a:spcBef>
                <a:spcPts val="1600"/>
              </a:spcBef>
              <a:buSzPct val="100000"/>
              <a:buFont typeface="Arial"/>
              <a:buChar char="•"/>
              <a:defRPr sz="2800"/>
            </a:pPr>
            <a:r>
              <a:t>Body text: 24 - 32 pt</a:t>
            </a:r>
          </a:p>
          <a:p>
            <a:pPr marL="768331" indent="-463539">
              <a:spcBef>
                <a:spcPts val="1600"/>
              </a:spcBef>
              <a:buSzPct val="100000"/>
              <a:buFont typeface="Arial"/>
              <a:buChar char="•"/>
              <a:defRPr sz="2800"/>
            </a:pPr>
            <a:r>
              <a:t>Captions: 18 pt</a:t>
            </a:r>
          </a:p>
          <a:p>
            <a:pPr>
              <a:spcBef>
                <a:spcPts val="1600"/>
              </a:spcBef>
              <a:defRPr sz="2800"/>
            </a:pPr>
            <a:r>
              <a:t>For readability, the following sizes are suggested for the body text:</a:t>
            </a:r>
          </a:p>
          <a:p>
            <a:pPr marL="768331" indent="-463539">
              <a:spcBef>
                <a:spcPts val="1600"/>
              </a:spcBef>
              <a:buSzPct val="100000"/>
              <a:buFont typeface="Arial"/>
              <a:buChar char="•"/>
              <a:defRPr sz="2800"/>
            </a:pPr>
            <a:r>
              <a:t>To be legible at 6 feet use 30 point. (most common for conferences)</a:t>
            </a:r>
          </a:p>
          <a:p>
            <a:pPr marL="768331" indent="-463539">
              <a:spcBef>
                <a:spcPts val="1600"/>
              </a:spcBef>
              <a:buSzPct val="100000"/>
              <a:buFont typeface="Arial"/>
              <a:buChar char="•"/>
              <a:defRPr sz="2800"/>
            </a:pPr>
            <a:r>
              <a:t>To be legible at 10 feet use 48 point.</a:t>
            </a:r>
          </a:p>
          <a:p>
            <a:pPr marL="768331" indent="-463539">
              <a:spcBef>
                <a:spcPts val="1600"/>
              </a:spcBef>
              <a:buSzPct val="100000"/>
              <a:buFont typeface="Arial"/>
              <a:buChar char="•"/>
              <a:defRPr sz="2800"/>
            </a:pPr>
            <a:r>
              <a:t>To be legible at 12 feet use 60 point.</a:t>
            </a:r>
          </a:p>
          <a:p>
            <a:pPr marL="768331" indent="-463539">
              <a:spcBef>
                <a:spcPts val="1600"/>
              </a:spcBef>
              <a:buSzPct val="100000"/>
              <a:buFont typeface="Arial"/>
              <a:buChar char="•"/>
              <a:defRPr sz="2800"/>
            </a:pPr>
            <a:r>
              <a:t>To be legible at 14 feet use 72 point.</a:t>
            </a:r>
          </a:p>
          <a:p>
            <a:pPr indent="304792">
              <a:spcBef>
                <a:spcPts val="1600"/>
              </a:spcBef>
              <a:defRPr sz="2800"/>
            </a:pPr>
            <a:r>
              <a:t>Text and figures should be readable from around 5-7 feet away</a:t>
            </a:r>
          </a:p>
          <a:p>
            <a:pPr marL="768331" indent="-463539">
              <a:spcBef>
                <a:spcPts val="1600"/>
              </a:spcBef>
              <a:buSzPct val="100000"/>
              <a:buFont typeface="Arial"/>
              <a:buChar char="•"/>
              <a:defRPr sz="2800"/>
            </a:pPr>
            <a:r>
              <a:t>Use a sans serif typeface (e.g., Lato, Arial, Open Sans, Helvetica, etc.). Our poster templates use the sans serif font Lato, which can be downloaded from </a:t>
            </a:r>
            <a:r>
              <a:rPr u="sng">
                <a:solidFill>
                  <a:srgbClr val="093F39"/>
                </a:solidFill>
                <a:uFill>
                  <a:solidFill>
                    <a:srgbClr val="093F39"/>
                  </a:solidFill>
                </a:uFill>
                <a:hlinkClick r:id="rId2" invalidUrl="" action="" tgtFrame="" tooltip="" history="1" highlightClick="0" endSnd="0"/>
              </a:rPr>
              <a:t>the link provided on our FAQ page </a:t>
            </a:r>
            <a:r>
              <a:t>or from Google: </a:t>
            </a:r>
            <a:r>
              <a:rPr u="sng">
                <a:solidFill>
                  <a:srgbClr val="093F39"/>
                </a:solidFill>
                <a:uFill>
                  <a:solidFill>
                    <a:srgbClr val="093F39"/>
                  </a:solidFill>
                </a:uFill>
                <a:hlinkClick r:id="rId3" invalidUrl="" action="" tgtFrame="" tooltip="" history="1" highlightClick="0" endSnd="0"/>
              </a:rPr>
              <a:t>https://fonts.google.com/specimen/Lato</a:t>
            </a:r>
          </a:p>
          <a:p>
            <a:pPr marL="768331" indent="-463539">
              <a:spcBef>
                <a:spcPts val="1600"/>
              </a:spcBef>
              <a:buSzPct val="100000"/>
              <a:buFont typeface="Arial"/>
              <a:buChar char="•"/>
              <a:defRPr sz="2800"/>
            </a:pPr>
            <a:r>
              <a:t>This poster uses Lato font and the theme has been mapped to that font. If you copy/paste text from documents, please ensure fonts are correct. Mismatched fonts in posters are a distraction and aesthetically degrades the quality of your presentation.</a:t>
            </a:r>
          </a:p>
          <a:p>
            <a:pPr marL="768331" indent="-463539">
              <a:spcBef>
                <a:spcPts val="1600"/>
              </a:spcBef>
              <a:buSzPct val="100000"/>
              <a:buFont typeface="Arial"/>
              <a:buChar char="•"/>
              <a:defRPr sz="2800"/>
            </a:pPr>
            <a:r>
              <a:t>For more information about creating accessible design with color and type, please reference </a:t>
            </a:r>
            <a:r>
              <a:rPr u="sng">
                <a:solidFill>
                  <a:srgbClr val="093F39"/>
                </a:solidFill>
                <a:uFill>
                  <a:solidFill>
                    <a:srgbClr val="093F39"/>
                  </a:solidFill>
                </a:uFill>
                <a:hlinkClick r:id="rId4" invalidUrl="" action="" tgtFrame="" tooltip="" history="1" highlightClick="0" endSnd="0"/>
              </a:rPr>
              <a:t>https://medcom.med.wayne.edu/creating-accessible-design</a:t>
            </a:r>
          </a:p>
          <a:p>
            <a:pPr>
              <a:defRPr b="1" sz="2800"/>
            </a:pPr>
            <a:r>
              <a:t>Text – good examples</a:t>
            </a:r>
          </a:p>
          <a:p>
            <a:pPr>
              <a:defRPr sz="2800"/>
            </a:pPr>
            <a:r>
              <a:t>Text should be high contrast, the following provide the best contrast for reading and printing:</a:t>
            </a:r>
          </a:p>
          <a:p>
            <a:pPr marL="772565" indent="-548203">
              <a:buSzPct val="100000"/>
              <a:buFont typeface="Arial"/>
              <a:buChar char="•"/>
              <a:defRPr sz="2800"/>
            </a:pPr>
            <a:r>
              <a:t>Black on white</a:t>
            </a:r>
          </a:p>
          <a:p>
            <a:pPr marL="772565" indent="-548203">
              <a:buSzPct val="100000"/>
              <a:buFont typeface="Arial"/>
              <a:buChar char="•"/>
              <a:defRPr sz="2800">
                <a:solidFill>
                  <a:srgbClr val="00594F"/>
                </a:solidFill>
              </a:defRPr>
            </a:pPr>
            <a:r>
              <a:t>WSU primary green on white</a:t>
            </a:r>
          </a:p>
          <a:p>
            <a:pPr marL="772565" indent="-548203">
              <a:buSzPct val="100000"/>
              <a:buFont typeface="Arial"/>
              <a:buChar char="•"/>
              <a:defRPr sz="2800">
                <a:solidFill>
                  <a:srgbClr val="404040"/>
                </a:solidFill>
              </a:defRPr>
            </a:pPr>
            <a:r>
              <a:t>Dark gray on white</a:t>
            </a:r>
          </a:p>
          <a:p>
            <a:pPr marL="772565" indent="-548203">
              <a:buSzPct val="100000"/>
              <a:buFont typeface="Arial"/>
              <a:buChar char="•"/>
              <a:defRPr b="1" sz="2800">
                <a:solidFill>
                  <a:srgbClr val="00594F"/>
                </a:solidFill>
              </a:defRPr>
            </a:pPr>
            <a:r>
              <a:t>WSU primary green on WSU primary yellow </a:t>
            </a:r>
          </a:p>
          <a:p>
            <a:pPr marL="772565" indent="-548203">
              <a:buSzPct val="100000"/>
              <a:buFont typeface="Arial"/>
              <a:buChar char="•"/>
              <a:defRPr b="1" sz="2800">
                <a:solidFill>
                  <a:srgbClr val="FFC844"/>
                </a:solidFill>
              </a:defRPr>
            </a:pPr>
            <a:r>
              <a:t>WSU primary yellow on WSU primary green</a:t>
            </a:r>
            <a:endParaRPr>
              <a:solidFill>
                <a:srgbClr val="404040"/>
              </a:solidFill>
            </a:endParaRPr>
          </a:p>
          <a:p>
            <a:pPr marL="772565" indent="-548203">
              <a:buClr>
                <a:srgbClr val="00594F"/>
              </a:buClr>
              <a:buSzPct val="100000"/>
              <a:buFont typeface="Arial"/>
              <a:buChar char="•"/>
              <a:defRPr sz="2800">
                <a:solidFill>
                  <a:srgbClr val="FFFFFF"/>
                </a:solidFill>
              </a:defRPr>
            </a:pPr>
            <a:r>
              <a:t>White on WSU primary green</a:t>
            </a:r>
          </a:p>
          <a:p>
            <a:pPr marL="768331" indent="-463539">
              <a:spcBef>
                <a:spcPts val="1600"/>
              </a:spcBef>
              <a:buSzPct val="100000"/>
              <a:buFont typeface="Arial"/>
              <a:buChar char="•"/>
              <a:defRPr sz="2800"/>
            </a:pPr>
          </a:p>
        </p:txBody>
      </p:sp>
      <p:graphicFrame>
        <p:nvGraphicFramePr>
          <p:cNvPr id="95" name="Chart 14"/>
          <p:cNvGraphicFramePr/>
          <p:nvPr/>
        </p:nvGraphicFramePr>
        <p:xfrm>
          <a:off x="22223544" y="25471094"/>
          <a:ext cx="6364156" cy="4617184"/>
        </p:xfrm>
        <a:graphic xmlns:a="http://schemas.openxmlformats.org/drawingml/2006/main">
          <a:graphicData uri="http://schemas.openxmlformats.org/drawingml/2006/chart">
            <c:chart xmlns:c="http://schemas.openxmlformats.org/drawingml/2006/chart" r:id="rId5"/>
          </a:graphicData>
        </a:graphic>
      </p:graphicFrame>
      <p:sp>
        <p:nvSpPr>
          <p:cNvPr id="96" name="TextBox 15"/>
          <p:cNvSpPr txBox="1"/>
          <p:nvPr/>
        </p:nvSpPr>
        <p:spPr>
          <a:xfrm>
            <a:off x="15285719" y="9294015"/>
            <a:ext cx="13319762" cy="7432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2800"/>
            </a:pPr>
            <a:r>
              <a:t>Text – poor/inaccessible examples</a:t>
            </a:r>
          </a:p>
          <a:p>
            <a:pPr>
              <a:defRPr sz="2800"/>
            </a:pPr>
            <a:r>
              <a:t>Text should be high contrast, the example to the right illustrates the worst examples of contrast, making it inaccessible for individuals that have vision impairment. This is what's called “designed to fail” as this assumes everyone can read the content, however, it does the opposite – it excludes people with vision impairments (and even good sighted individuals).</a:t>
            </a:r>
          </a:p>
          <a:p>
            <a:pPr>
              <a:defRPr sz="2800"/>
            </a:pPr>
          </a:p>
          <a:p>
            <a:pPr marL="609584" indent="-446605">
              <a:buSzPct val="100000"/>
              <a:buFont typeface="Arial"/>
              <a:buChar char="•"/>
              <a:defRPr sz="2800"/>
            </a:pPr>
            <a:r>
              <a:t>Black on white</a:t>
            </a:r>
          </a:p>
          <a:p>
            <a:pPr marL="609584" indent="-446605">
              <a:buSzPct val="100000"/>
              <a:buFont typeface="Arial"/>
              <a:buChar char="•"/>
              <a:defRPr sz="2800">
                <a:solidFill>
                  <a:srgbClr val="3D7A67"/>
                </a:solidFill>
              </a:defRPr>
            </a:pPr>
            <a:r>
              <a:t>Light green on WSU primary green</a:t>
            </a:r>
          </a:p>
          <a:p>
            <a:pPr marL="609584" indent="-446605">
              <a:buSzPct val="100000"/>
              <a:buFont typeface="Arial"/>
              <a:buChar char="•"/>
              <a:defRPr sz="2800">
                <a:solidFill>
                  <a:srgbClr val="404040"/>
                </a:solidFill>
              </a:defRPr>
            </a:pPr>
            <a:r>
              <a:t>Dark gray on WSU primary green</a:t>
            </a:r>
          </a:p>
          <a:p>
            <a:pPr marL="609584" indent="-446605">
              <a:buSzPct val="100000"/>
              <a:buFont typeface="Arial"/>
              <a:buChar char="•"/>
              <a:defRPr b="1" sz="2800">
                <a:solidFill>
                  <a:srgbClr val="FFFFFF"/>
                </a:solidFill>
              </a:defRPr>
            </a:pPr>
            <a:r>
              <a:t>White on WSU primary yellow </a:t>
            </a:r>
          </a:p>
          <a:p>
            <a:pPr marL="609584" indent="-446605">
              <a:buSzPct val="100000"/>
              <a:buFont typeface="Arial"/>
              <a:buChar char="•"/>
              <a:defRPr b="1" sz="2800"/>
            </a:pPr>
            <a:r>
              <a:t>Black on WSU primary green</a:t>
            </a:r>
          </a:p>
          <a:p>
            <a:pPr marL="609584" indent="-446605">
              <a:buClr>
                <a:srgbClr val="00594F"/>
              </a:buClr>
              <a:buSzPct val="100000"/>
              <a:buFont typeface="Arial"/>
              <a:buChar char="•"/>
              <a:defRPr sz="2800">
                <a:solidFill>
                  <a:srgbClr val="FF0000"/>
                </a:solidFill>
              </a:defRPr>
            </a:pPr>
            <a:r>
              <a:t>Red on WSU primary green</a:t>
            </a:r>
          </a:p>
          <a:p>
            <a:pPr marL="609584" indent="-446605">
              <a:buClr>
                <a:srgbClr val="00594F"/>
              </a:buClr>
              <a:buSzPct val="100000"/>
              <a:buFont typeface="Arial"/>
              <a:buChar char="•"/>
              <a:defRPr sz="2800">
                <a:solidFill>
                  <a:srgbClr val="FF0000"/>
                </a:solidFill>
              </a:defRPr>
            </a:pPr>
            <a:r>
              <a:t>Red</a:t>
            </a:r>
            <a:r>
              <a:rPr>
                <a:solidFill>
                  <a:srgbClr val="093F39"/>
                </a:solidFill>
              </a:rPr>
              <a:t> does not mean this is important! When deciding to change your content's font color for important information, ensure the font color is </a:t>
            </a:r>
            <a:r>
              <a:rPr b="1" i="1">
                <a:solidFill>
                  <a:srgbClr val="093F39"/>
                </a:solidFill>
              </a:rPr>
              <a:t>not</a:t>
            </a:r>
            <a:r>
              <a:rPr>
                <a:solidFill>
                  <a:srgbClr val="093F39"/>
                </a:solidFill>
              </a:rPr>
              <a:t> the only means of identification. </a:t>
            </a:r>
            <a:r>
              <a:rPr b="1">
                <a:solidFill>
                  <a:srgbClr val="093F39"/>
                </a:solidFill>
              </a:rPr>
              <a:t>Bolding,</a:t>
            </a:r>
            <a:r>
              <a:rPr>
                <a:solidFill>
                  <a:srgbClr val="093F39"/>
                </a:solidFill>
              </a:rPr>
              <a:t> </a:t>
            </a:r>
            <a:r>
              <a:rPr i="1">
                <a:solidFill>
                  <a:srgbClr val="093F39"/>
                </a:solidFill>
              </a:rPr>
              <a:t>italicizing</a:t>
            </a:r>
            <a:r>
              <a:rPr>
                <a:solidFill>
                  <a:srgbClr val="093F39"/>
                </a:solidFill>
              </a:rPr>
              <a:t> and scale can function as indicators of importance.</a:t>
            </a:r>
          </a:p>
        </p:txBody>
      </p:sp>
      <p:sp>
        <p:nvSpPr>
          <p:cNvPr id="97" name="TextBox 16"/>
          <p:cNvSpPr txBox="1"/>
          <p:nvPr/>
        </p:nvSpPr>
        <p:spPr>
          <a:xfrm>
            <a:off x="29631639" y="29125220"/>
            <a:ext cx="13319761" cy="2250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1600"/>
              </a:spcBef>
              <a:defRPr b="1" i="1" sz="2800"/>
            </a:pPr>
            <a:r>
              <a:t>We hope you find these tips helpful! </a:t>
            </a:r>
            <a:r>
              <a:rPr b="0" i="0"/>
              <a:t>If you have any questions, please call the department of Medical Communications at Wayne State University School of Medicine at 313-577-1482 or email </a:t>
            </a:r>
            <a:r>
              <a:rPr b="0" i="0" u="sng">
                <a:solidFill>
                  <a:srgbClr val="093F39"/>
                </a:solidFill>
                <a:uFill>
                  <a:solidFill>
                    <a:srgbClr val="093F39"/>
                  </a:solidFill>
                </a:uFill>
                <a:hlinkClick r:id="rId6" invalidUrl="" action="" tgtFrame="" tooltip="" history="1" highlightClick="0" endSnd="0"/>
              </a:rPr>
              <a:t>medcom@med.wayne.edu</a:t>
            </a:r>
            <a:r>
              <a:rPr b="0" i="0"/>
              <a:t> We are open Monday through Friday, 8:30 a.m. through 5 p.m. and closed for university recognized holidays.</a:t>
            </a:r>
          </a:p>
        </p:txBody>
      </p:sp>
      <p:grpSp>
        <p:nvGrpSpPr>
          <p:cNvPr id="100" name="Rectangle 17"/>
          <p:cNvGrpSpPr/>
          <p:nvPr/>
        </p:nvGrpSpPr>
        <p:grpSpPr>
          <a:xfrm>
            <a:off x="29585918" y="11224437"/>
            <a:ext cx="4185921" cy="2897965"/>
            <a:chOff x="0" y="0"/>
            <a:chExt cx="4185920" cy="2897964"/>
          </a:xfrm>
        </p:grpSpPr>
        <p:sp>
          <p:nvSpPr>
            <p:cNvPr id="98" name="Rectangle"/>
            <p:cNvSpPr/>
            <p:nvPr/>
          </p:nvSpPr>
          <p:spPr>
            <a:xfrm>
              <a:off x="-1" y="-1"/>
              <a:ext cx="4185922" cy="2897966"/>
            </a:xfrm>
            <a:prstGeom prst="rect">
              <a:avLst/>
            </a:prstGeom>
            <a:solidFill>
              <a:schemeClr val="accent1"/>
            </a:solidFill>
            <a:ln w="12700" cap="flat">
              <a:noFill/>
              <a:miter lim="400000"/>
            </a:ln>
            <a:effectLst/>
          </p:spPr>
          <p:txBody>
            <a:bodyPr wrap="square" lIns="45719" tIns="45719" rIns="45719" bIns="45719" numCol="1" anchor="ctr">
              <a:noAutofit/>
            </a:bodyPr>
            <a:lstStyle/>
            <a:p>
              <a:pPr algn="ctr" defTabSz="5016374">
                <a:defRPr sz="2400">
                  <a:solidFill>
                    <a:srgbClr val="FFFFFF"/>
                  </a:solidFill>
                </a:defRPr>
              </a:pPr>
            </a:p>
          </p:txBody>
        </p:sp>
        <p:sp>
          <p:nvSpPr>
            <p:cNvPr id="99" name="WSU primary green…"/>
            <p:cNvSpPr txBox="1"/>
            <p:nvPr/>
          </p:nvSpPr>
          <p:spPr>
            <a:xfrm>
              <a:off x="60959" y="835572"/>
              <a:ext cx="4064001" cy="122682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960" tIns="60960" rIns="60960" bIns="60960" numCol="1" anchor="ctr">
              <a:spAutoFit/>
            </a:bodyPr>
            <a:lstStyle/>
            <a:p>
              <a:pPr algn="ctr" defTabSz="5016374">
                <a:defRPr sz="2400">
                  <a:solidFill>
                    <a:srgbClr val="FFFFFF"/>
                  </a:solidFill>
                </a:defRPr>
              </a:pPr>
              <a:r>
                <a:t>WSU primary green</a:t>
              </a:r>
            </a:p>
            <a:p>
              <a:pPr algn="ctr" defTabSz="5016374">
                <a:defRPr sz="2400">
                  <a:solidFill>
                    <a:srgbClr val="FFFFFF"/>
                  </a:solidFill>
                </a:defRPr>
              </a:pPr>
              <a:r>
                <a:t>hex (#0c5449)</a:t>
              </a:r>
              <a:br/>
              <a:r>
                <a:t>rgb (12, 84, 73)</a:t>
              </a:r>
            </a:p>
          </p:txBody>
        </p:sp>
      </p:grpSp>
      <p:grpSp>
        <p:nvGrpSpPr>
          <p:cNvPr id="103" name="Rectangle 18"/>
          <p:cNvGrpSpPr/>
          <p:nvPr/>
        </p:nvGrpSpPr>
        <p:grpSpPr>
          <a:xfrm>
            <a:off x="34198557" y="11224437"/>
            <a:ext cx="4185921" cy="2897965"/>
            <a:chOff x="0" y="0"/>
            <a:chExt cx="4185920" cy="2897964"/>
          </a:xfrm>
        </p:grpSpPr>
        <p:sp>
          <p:nvSpPr>
            <p:cNvPr id="101" name="Rectangle"/>
            <p:cNvSpPr/>
            <p:nvPr/>
          </p:nvSpPr>
          <p:spPr>
            <a:xfrm>
              <a:off x="-1" y="-1"/>
              <a:ext cx="4185922" cy="2897966"/>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defTabSz="5016374"/>
            </a:p>
          </p:txBody>
        </p:sp>
        <p:sp>
          <p:nvSpPr>
            <p:cNvPr id="102" name="WSU primary yellow…"/>
            <p:cNvSpPr txBox="1"/>
            <p:nvPr/>
          </p:nvSpPr>
          <p:spPr>
            <a:xfrm>
              <a:off x="60959" y="835572"/>
              <a:ext cx="4064001" cy="122682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960" tIns="60960" rIns="60960" bIns="60960" numCol="1" anchor="ctr">
              <a:spAutoFit/>
            </a:bodyPr>
            <a:lstStyle/>
            <a:p>
              <a:pPr algn="ctr" defTabSz="5016374">
                <a:defRPr sz="2400">
                  <a:solidFill>
                    <a:srgbClr val="093F39"/>
                  </a:solidFill>
                </a:defRPr>
              </a:pPr>
              <a:r>
                <a:t>WSU primary yellow</a:t>
              </a:r>
            </a:p>
            <a:p>
              <a:pPr algn="ctr" defTabSz="5016374">
                <a:defRPr sz="2400">
                  <a:solidFill>
                    <a:srgbClr val="093F39"/>
                  </a:solidFill>
                </a:defRPr>
              </a:pPr>
              <a:r>
                <a:t>hex (#ffcc33)</a:t>
              </a:r>
              <a:br/>
              <a:r>
                <a:t>rgb (255, 204, 51)</a:t>
              </a:r>
            </a:p>
          </p:txBody>
        </p:sp>
      </p:grpSp>
      <p:grpSp>
        <p:nvGrpSpPr>
          <p:cNvPr id="106" name="Rectangle 19"/>
          <p:cNvGrpSpPr/>
          <p:nvPr/>
        </p:nvGrpSpPr>
        <p:grpSpPr>
          <a:xfrm>
            <a:off x="38811199" y="11224437"/>
            <a:ext cx="4185922" cy="2897965"/>
            <a:chOff x="0" y="0"/>
            <a:chExt cx="4185920" cy="2897964"/>
          </a:xfrm>
        </p:grpSpPr>
        <p:sp>
          <p:nvSpPr>
            <p:cNvPr id="104" name="Rectangle"/>
            <p:cNvSpPr/>
            <p:nvPr/>
          </p:nvSpPr>
          <p:spPr>
            <a:xfrm>
              <a:off x="-1" y="-1"/>
              <a:ext cx="4185922" cy="2897966"/>
            </a:xfrm>
            <a:prstGeom prst="rect">
              <a:avLst/>
            </a:prstGeom>
            <a:solidFill>
              <a:srgbClr val="D9D9D9"/>
            </a:solidFill>
            <a:ln w="12700" cap="flat">
              <a:noFill/>
              <a:miter lim="400000"/>
            </a:ln>
            <a:effectLst/>
          </p:spPr>
          <p:txBody>
            <a:bodyPr wrap="square" lIns="45719" tIns="45719" rIns="45719" bIns="45719" numCol="1" anchor="ctr">
              <a:noAutofit/>
            </a:bodyPr>
            <a:lstStyle/>
            <a:p>
              <a:pPr algn="ctr" defTabSz="5016374">
                <a:defRPr sz="2400">
                  <a:solidFill>
                    <a:srgbClr val="093F39"/>
                  </a:solidFill>
                </a:defRPr>
              </a:pPr>
            </a:p>
          </p:txBody>
        </p:sp>
        <p:sp>
          <p:nvSpPr>
            <p:cNvPr id="105" name="Grey accent…"/>
            <p:cNvSpPr txBox="1"/>
            <p:nvPr/>
          </p:nvSpPr>
          <p:spPr>
            <a:xfrm>
              <a:off x="60959" y="835572"/>
              <a:ext cx="4064001" cy="122682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0960" tIns="60960" rIns="60960" bIns="60960" numCol="1" anchor="ctr">
              <a:spAutoFit/>
            </a:bodyPr>
            <a:lstStyle/>
            <a:p>
              <a:pPr algn="ctr" defTabSz="5016374">
                <a:defRPr sz="2400">
                  <a:solidFill>
                    <a:srgbClr val="093F39"/>
                  </a:solidFill>
                </a:defRPr>
              </a:pPr>
              <a:r>
                <a:t>Grey accent</a:t>
              </a:r>
            </a:p>
            <a:p>
              <a:pPr algn="ctr" defTabSz="5016374">
                <a:defRPr sz="2400">
                  <a:solidFill>
                    <a:srgbClr val="093F39"/>
                  </a:solidFill>
                </a:defRPr>
              </a:pPr>
              <a:r>
                <a:t>hex (#d9d9d9)</a:t>
              </a:r>
              <a:br/>
              <a:r>
                <a:t>rgb (217, 217, 217)</a:t>
              </a:r>
            </a:p>
          </p:txBody>
        </p:sp>
      </p:grpSp>
      <p:grpSp>
        <p:nvGrpSpPr>
          <p:cNvPr id="109" name="Rectangle 21"/>
          <p:cNvGrpSpPr/>
          <p:nvPr/>
        </p:nvGrpSpPr>
        <p:grpSpPr>
          <a:xfrm>
            <a:off x="29360747" y="26033598"/>
            <a:ext cx="14036040" cy="1219201"/>
            <a:chOff x="0" y="0"/>
            <a:chExt cx="14036039" cy="1219200"/>
          </a:xfrm>
        </p:grpSpPr>
        <p:sp>
          <p:nvSpPr>
            <p:cNvPr id="107" name="Rectangle"/>
            <p:cNvSpPr/>
            <p:nvPr/>
          </p:nvSpPr>
          <p:spPr>
            <a:xfrm>
              <a:off x="-1" y="0"/>
              <a:ext cx="14036041" cy="1219200"/>
            </a:xfrm>
            <a:prstGeom prst="rect">
              <a:avLst/>
            </a:prstGeom>
            <a:solidFill>
              <a:schemeClr val="accent2"/>
            </a:solidFill>
            <a:ln w="12700" cap="flat">
              <a:noFill/>
              <a:miter lim="400000"/>
            </a:ln>
            <a:effectLst/>
          </p:spPr>
          <p:txBody>
            <a:bodyPr wrap="square" lIns="45719" tIns="45719" rIns="45719" bIns="45719" numCol="1" anchor="ctr">
              <a:noAutofit/>
            </a:bodyPr>
            <a:lstStyle/>
            <a:p>
              <a:pPr algn="ctr" defTabSz="3224526"/>
            </a:p>
          </p:txBody>
        </p:sp>
        <p:sp>
          <p:nvSpPr>
            <p:cNvPr id="108" name="References"/>
            <p:cNvSpPr txBox="1"/>
            <p:nvPr/>
          </p:nvSpPr>
          <p:spPr>
            <a:xfrm>
              <a:off x="5318664" y="191803"/>
              <a:ext cx="3398711" cy="83559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9496" tIns="49496" rIns="49496" bIns="49496" numCol="1" anchor="ctr">
              <a:spAutoFit/>
            </a:bodyPr>
            <a:lstStyle>
              <a:lvl1pPr algn="ctr" defTabSz="3224526">
                <a:defRPr b="1" sz="4800">
                  <a:solidFill>
                    <a:srgbClr val="093F39"/>
                  </a:solidFill>
                </a:defRPr>
              </a:lvl1pPr>
            </a:lstStyle>
            <a:p>
              <a:pPr/>
              <a:r>
                <a:t>References</a:t>
              </a:r>
            </a:p>
          </p:txBody>
        </p:sp>
      </p:grpSp>
      <p:grpSp>
        <p:nvGrpSpPr>
          <p:cNvPr id="112" name="Rectangle 21"/>
          <p:cNvGrpSpPr/>
          <p:nvPr/>
        </p:nvGrpSpPr>
        <p:grpSpPr>
          <a:xfrm>
            <a:off x="29360747" y="27545788"/>
            <a:ext cx="14036040" cy="1219201"/>
            <a:chOff x="0" y="0"/>
            <a:chExt cx="14036039" cy="1219200"/>
          </a:xfrm>
        </p:grpSpPr>
        <p:sp>
          <p:nvSpPr>
            <p:cNvPr id="110" name="Rectangle"/>
            <p:cNvSpPr/>
            <p:nvPr/>
          </p:nvSpPr>
          <p:spPr>
            <a:xfrm>
              <a:off x="-1" y="0"/>
              <a:ext cx="14036041" cy="1219200"/>
            </a:xfrm>
            <a:prstGeom prst="rect">
              <a:avLst/>
            </a:prstGeom>
            <a:solidFill>
              <a:srgbClr val="D9D9D9"/>
            </a:solidFill>
            <a:ln w="12700" cap="flat">
              <a:noFill/>
              <a:miter lim="400000"/>
            </a:ln>
            <a:effectLst/>
          </p:spPr>
          <p:txBody>
            <a:bodyPr wrap="square" lIns="45719" tIns="45719" rIns="45719" bIns="45719" numCol="1" anchor="ctr">
              <a:noAutofit/>
            </a:bodyPr>
            <a:lstStyle/>
            <a:p>
              <a:pPr algn="ctr" defTabSz="3224526"/>
            </a:p>
          </p:txBody>
        </p:sp>
        <p:sp>
          <p:nvSpPr>
            <p:cNvPr id="111" name="References"/>
            <p:cNvSpPr txBox="1"/>
            <p:nvPr/>
          </p:nvSpPr>
          <p:spPr>
            <a:xfrm>
              <a:off x="5318664" y="191803"/>
              <a:ext cx="3398711" cy="83559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9496" tIns="49496" rIns="49496" bIns="49496" numCol="1" anchor="ctr">
              <a:spAutoFit/>
            </a:bodyPr>
            <a:lstStyle>
              <a:lvl1pPr algn="ctr" defTabSz="3224526">
                <a:defRPr b="1" sz="4800">
                  <a:solidFill>
                    <a:srgbClr val="093F39"/>
                  </a:solidFill>
                </a:defRPr>
              </a:lvl1pPr>
            </a:lstStyle>
            <a:p>
              <a:pPr/>
              <a:r>
                <a:t>References</a:t>
              </a:r>
            </a:p>
          </p:txBody>
        </p:sp>
      </p:grpSp>
      <p:sp>
        <p:nvSpPr>
          <p:cNvPr id="113" name="TextBox 53"/>
          <p:cNvSpPr txBox="1"/>
          <p:nvPr/>
        </p:nvSpPr>
        <p:spPr>
          <a:xfrm>
            <a:off x="29631639" y="9294015"/>
            <a:ext cx="13522961" cy="1590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1600"/>
              </a:spcBef>
              <a:defRPr b="1" sz="2800"/>
            </a:pPr>
            <a:r>
              <a:t>WSU color branding quick guide. </a:t>
            </a:r>
          </a:p>
          <a:p>
            <a:pPr>
              <a:spcBef>
                <a:spcPts val="1600"/>
              </a:spcBef>
              <a:defRPr sz="2800"/>
            </a:pPr>
            <a:r>
              <a:t>For detailed information about WSU color branding, please visit the FAQ section on our website and </a:t>
            </a:r>
            <a:r>
              <a:rPr u="sng">
                <a:solidFill>
                  <a:srgbClr val="093F39"/>
                </a:solidFill>
                <a:uFill>
                  <a:solidFill>
                    <a:srgbClr val="093F39"/>
                  </a:solidFill>
                </a:uFill>
                <a:hlinkClick r:id="rId2" invalidUrl="" action="" tgtFrame="" tooltip="" history="1" highlightClick="0" endSnd="0"/>
              </a:rPr>
              <a:t>select the WSU color under the WSU branding section</a:t>
            </a:r>
            <a:r>
              <a:t>.</a:t>
            </a:r>
          </a:p>
        </p:txBody>
      </p:sp>
      <p:sp>
        <p:nvSpPr>
          <p:cNvPr id="114" name="TextBox 55"/>
          <p:cNvSpPr txBox="1"/>
          <p:nvPr/>
        </p:nvSpPr>
        <p:spPr>
          <a:xfrm>
            <a:off x="29631639" y="16963913"/>
            <a:ext cx="13319761" cy="1386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spcBef>
                <a:spcPts val="1600"/>
              </a:spcBef>
              <a:defRPr b="1" sz="2800"/>
            </a:pPr>
            <a:r>
              <a:t>High resolution WSU logos. </a:t>
            </a:r>
            <a:r>
              <a:rPr b="0"/>
              <a:t>Proportionally scaled down. If you need to enlarge, please LOCK ASPECT RATIO in the shape format tab! Do not stretch or scale without aspect ratio selected or scale above 100%.</a:t>
            </a:r>
          </a:p>
        </p:txBody>
      </p:sp>
      <p:pic>
        <p:nvPicPr>
          <p:cNvPr id="115" name="Picture 56" descr="Picture 56"/>
          <p:cNvPicPr>
            <a:picLocks noChangeAspect="1"/>
          </p:cNvPicPr>
          <p:nvPr/>
        </p:nvPicPr>
        <p:blipFill>
          <a:blip r:embed="rId7">
            <a:extLst/>
          </a:blip>
          <a:stretch>
            <a:fillRect/>
          </a:stretch>
        </p:blipFill>
        <p:spPr>
          <a:xfrm>
            <a:off x="37754560" y="19183311"/>
            <a:ext cx="3810001" cy="2670812"/>
          </a:xfrm>
          <a:prstGeom prst="rect">
            <a:avLst/>
          </a:prstGeom>
          <a:ln w="12700">
            <a:miter lim="400000"/>
          </a:ln>
        </p:spPr>
      </p:pic>
      <p:pic>
        <p:nvPicPr>
          <p:cNvPr id="116" name="Picture 57" descr="Picture 57"/>
          <p:cNvPicPr>
            <a:picLocks noChangeAspect="1"/>
          </p:cNvPicPr>
          <p:nvPr/>
        </p:nvPicPr>
        <p:blipFill>
          <a:blip r:embed="rId8">
            <a:extLst/>
          </a:blip>
          <a:stretch>
            <a:fillRect/>
          </a:stretch>
        </p:blipFill>
        <p:spPr>
          <a:xfrm>
            <a:off x="30693360" y="19183311"/>
            <a:ext cx="3810001" cy="2670812"/>
          </a:xfrm>
          <a:prstGeom prst="rect">
            <a:avLst/>
          </a:prstGeom>
          <a:ln w="12700">
            <a:miter lim="400000"/>
          </a:ln>
        </p:spPr>
      </p:pic>
      <p:pic>
        <p:nvPicPr>
          <p:cNvPr id="117" name="Picture 58" descr="Picture 58"/>
          <p:cNvPicPr>
            <a:picLocks noChangeAspect="1"/>
          </p:cNvPicPr>
          <p:nvPr/>
        </p:nvPicPr>
        <p:blipFill>
          <a:blip r:embed="rId9">
            <a:extLst/>
          </a:blip>
          <a:stretch>
            <a:fillRect/>
          </a:stretch>
        </p:blipFill>
        <p:spPr>
          <a:xfrm>
            <a:off x="37119560" y="22731252"/>
            <a:ext cx="5080001" cy="1290321"/>
          </a:xfrm>
          <a:prstGeom prst="rect">
            <a:avLst/>
          </a:prstGeom>
          <a:ln w="12700">
            <a:miter lim="400000"/>
          </a:ln>
        </p:spPr>
      </p:pic>
      <p:pic>
        <p:nvPicPr>
          <p:cNvPr id="118" name="Picture 59" descr="Picture 59"/>
          <p:cNvPicPr>
            <a:picLocks noChangeAspect="1"/>
          </p:cNvPicPr>
          <p:nvPr/>
        </p:nvPicPr>
        <p:blipFill>
          <a:blip r:embed="rId10">
            <a:extLst/>
          </a:blip>
          <a:stretch>
            <a:fillRect/>
          </a:stretch>
        </p:blipFill>
        <p:spPr>
          <a:xfrm>
            <a:off x="30058360" y="22731252"/>
            <a:ext cx="5080001" cy="1290321"/>
          </a:xfrm>
          <a:prstGeom prst="rect">
            <a:avLst/>
          </a:prstGeom>
          <a:ln w="12700">
            <a:miter lim="400000"/>
          </a:ln>
        </p:spPr>
      </p:pic>
      <p:sp>
        <p:nvSpPr>
          <p:cNvPr id="119" name="TextBox 60"/>
          <p:cNvSpPr txBox="1"/>
          <p:nvPr/>
        </p:nvSpPr>
        <p:spPr>
          <a:xfrm>
            <a:off x="22470439" y="18879684"/>
            <a:ext cx="6074079" cy="438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457189" indent="-457189">
              <a:spcBef>
                <a:spcPts val="1600"/>
              </a:spcBef>
              <a:buSzPct val="100000"/>
              <a:buFont typeface="Arial"/>
              <a:buChar char="•"/>
              <a:defRPr sz="2800"/>
            </a:pPr>
            <a:r>
              <a:t>Include a brief caption for figure(s), and explicitly refer to the figure in the text, which includes labeling with legible fonts and font sizes</a:t>
            </a:r>
          </a:p>
          <a:p>
            <a:pPr marL="457189" indent="-457189">
              <a:spcBef>
                <a:spcPts val="1600"/>
              </a:spcBef>
              <a:buSzPct val="100000"/>
              <a:buFont typeface="Arial"/>
              <a:buChar char="•"/>
              <a:defRPr sz="2800"/>
            </a:pPr>
            <a:r>
              <a:t>Figures (Figure 1) should advance the points you’re making in the text</a:t>
            </a:r>
          </a:p>
          <a:p>
            <a:pPr marL="457189" indent="-457189">
              <a:spcBef>
                <a:spcPts val="1600"/>
              </a:spcBef>
              <a:buSzPct val="100000"/>
              <a:buFont typeface="Arial"/>
              <a:buChar char="•"/>
              <a:defRPr sz="2800"/>
            </a:pPr>
            <a:r>
              <a:t>Ensure images and figures (Figure 2) are sufficiently high resolution for enlargement (Figure 3)</a:t>
            </a:r>
          </a:p>
        </p:txBody>
      </p:sp>
      <p:pic>
        <p:nvPicPr>
          <p:cNvPr id="120" name="Picture 61" descr="Picture 61"/>
          <p:cNvPicPr>
            <a:picLocks noChangeAspect="1"/>
          </p:cNvPicPr>
          <p:nvPr/>
        </p:nvPicPr>
        <p:blipFill>
          <a:blip r:embed="rId11">
            <a:extLst/>
          </a:blip>
          <a:srcRect l="0" t="2518" r="0" b="3932"/>
          <a:stretch>
            <a:fillRect/>
          </a:stretch>
        </p:blipFill>
        <p:spPr>
          <a:xfrm>
            <a:off x="15238635" y="18952143"/>
            <a:ext cx="6644638" cy="4142993"/>
          </a:xfrm>
          <a:prstGeom prst="rect">
            <a:avLst/>
          </a:prstGeom>
          <a:ln w="12700">
            <a:miter lim="400000"/>
          </a:ln>
        </p:spPr>
      </p:pic>
      <p:sp>
        <p:nvSpPr>
          <p:cNvPr id="121" name="TextBox 62"/>
          <p:cNvSpPr txBox="1"/>
          <p:nvPr/>
        </p:nvSpPr>
        <p:spPr>
          <a:xfrm>
            <a:off x="15166313" y="21626594"/>
            <a:ext cx="6671238" cy="650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Figure 1 - reference figures in your poster. Suggested caption text size is 18 point </a:t>
            </a:r>
          </a:p>
        </p:txBody>
      </p:sp>
      <p:sp>
        <p:nvSpPr>
          <p:cNvPr id="122" name="TextBox 63"/>
          <p:cNvSpPr txBox="1"/>
          <p:nvPr/>
        </p:nvSpPr>
        <p:spPr>
          <a:xfrm>
            <a:off x="15166316" y="30698901"/>
            <a:ext cx="6671238"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Figure 2 – example chart</a:t>
            </a:r>
          </a:p>
        </p:txBody>
      </p:sp>
      <p:graphicFrame>
        <p:nvGraphicFramePr>
          <p:cNvPr id="123" name="Chart 64"/>
          <p:cNvGraphicFramePr/>
          <p:nvPr/>
        </p:nvGraphicFramePr>
        <p:xfrm>
          <a:off x="15686853" y="26002972"/>
          <a:ext cx="5073274" cy="3951239"/>
        </p:xfrm>
        <a:graphic xmlns:a="http://schemas.openxmlformats.org/drawingml/2006/main">
          <a:graphicData uri="http://schemas.openxmlformats.org/drawingml/2006/chart">
            <c:chart xmlns:c="http://schemas.openxmlformats.org/drawingml/2006/chart" r:id="rId12"/>
          </a:graphicData>
        </a:graphic>
      </p:graphicFrame>
      <p:sp>
        <p:nvSpPr>
          <p:cNvPr id="124" name="TextBox 65"/>
          <p:cNvSpPr txBox="1"/>
          <p:nvPr/>
        </p:nvSpPr>
        <p:spPr>
          <a:xfrm>
            <a:off x="22174187" y="30698901"/>
            <a:ext cx="6671238"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r>
              <a:t>Figure 3 – example chart</a:t>
            </a:r>
          </a:p>
        </p:txBody>
      </p:sp>
      <p:pic>
        <p:nvPicPr>
          <p:cNvPr id="125" name="Picture 67" descr="Picture 67"/>
          <p:cNvPicPr>
            <a:picLocks noChangeAspect="1"/>
          </p:cNvPicPr>
          <p:nvPr/>
        </p:nvPicPr>
        <p:blipFill>
          <a:blip r:embed="rId7">
            <a:extLst/>
          </a:blip>
          <a:stretch>
            <a:fillRect/>
          </a:stretch>
        </p:blipFill>
        <p:spPr>
          <a:xfrm>
            <a:off x="653142" y="670193"/>
            <a:ext cx="8178222" cy="5732936"/>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0C5449"/>
      </a:accent1>
      <a:accent2>
        <a:srgbClr val="FFCC33"/>
      </a:accent2>
      <a:accent3>
        <a:srgbClr val="92D401"/>
      </a:accent3>
      <a:accent4>
        <a:srgbClr val="CBD900"/>
      </a:accent4>
      <a:accent5>
        <a:srgbClr val="179769"/>
      </a:accent5>
      <a:accent6>
        <a:srgbClr val="FFE596"/>
      </a:accent6>
      <a:hlink>
        <a:srgbClr val="0000FF"/>
      </a:hlink>
      <a:folHlink>
        <a:srgbClr val="FF00FF"/>
      </a:folHlink>
    </a:clrScheme>
    <a:fontScheme name="Office Theme">
      <a:majorFont>
        <a:latin typeface="Lato Medium"/>
        <a:ea typeface="Lato Medium"/>
        <a:cs typeface="Lato Medium"/>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Lato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Lato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0C5449"/>
      </a:accent1>
      <a:accent2>
        <a:srgbClr val="FFCC33"/>
      </a:accent2>
      <a:accent3>
        <a:srgbClr val="92D401"/>
      </a:accent3>
      <a:accent4>
        <a:srgbClr val="CBD900"/>
      </a:accent4>
      <a:accent5>
        <a:srgbClr val="179769"/>
      </a:accent5>
      <a:accent6>
        <a:srgbClr val="FFE596"/>
      </a:accent6>
      <a:hlink>
        <a:srgbClr val="0000FF"/>
      </a:hlink>
      <a:folHlink>
        <a:srgbClr val="FF00FF"/>
      </a:folHlink>
    </a:clrScheme>
    <a:fontScheme name="Office Theme">
      <a:majorFont>
        <a:latin typeface="Lato Medium"/>
        <a:ea typeface="Lato Medium"/>
        <a:cs typeface="Lato Medium"/>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Lato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Lato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